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09" r:id="rId2"/>
    <p:sldId id="258" r:id="rId3"/>
    <p:sldId id="310" r:id="rId4"/>
    <p:sldId id="344" r:id="rId5"/>
    <p:sldId id="365" r:id="rId6"/>
    <p:sldId id="374" r:id="rId7"/>
    <p:sldId id="367" r:id="rId8"/>
    <p:sldId id="369" r:id="rId9"/>
    <p:sldId id="371" r:id="rId10"/>
    <p:sldId id="370" r:id="rId11"/>
    <p:sldId id="373" r:id="rId12"/>
    <p:sldId id="372" r:id="rId13"/>
    <p:sldId id="366" r:id="rId14"/>
    <p:sldId id="278" r:id="rId15"/>
    <p:sldId id="260" r:id="rId16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03"/>
    <p:restoredTop sz="94638"/>
  </p:normalViewPr>
  <p:slideViewPr>
    <p:cSldViewPr>
      <p:cViewPr varScale="1">
        <p:scale>
          <a:sx n="113" d="100"/>
          <a:sy n="113" d="100"/>
        </p:scale>
        <p:origin x="1712" y="176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ADB6FF1F-555E-4388-A8B0-D1E524B355D1}" type="datetimeFigureOut">
              <a:rPr lang="pt-PT" smtClean="0"/>
              <a:pPr/>
              <a:t>10/11/25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CD9FB018-1958-45C1-ABFF-E1E983EC4F43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478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E77E319B-B046-487F-8D03-B96E4F1A43D0}" type="datetimeFigureOut">
              <a:rPr lang="pt-PT" smtClean="0"/>
              <a:pPr/>
              <a:t>10/11/25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68" tIns="47384" rIns="94768" bIns="47384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F3DD545E-D36A-4832-938A-2ECADA69E4C6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776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pt-PT"/>
          </a:p>
        </p:txBody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319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pt-PT"/>
          </a:p>
        </p:txBody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354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9D681-7BDD-A761-7D20-FA69116B3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45602530-7404-A73F-4A29-3C913EE1AF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815A4BA-21E2-FB55-8B50-8DA562D268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pt-PT"/>
          </a:p>
        </p:txBody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3463B526-6228-C79B-C79B-5B4E91DBDD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121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CBC03-102B-2A48-498F-94FBE19E2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973D39C-6871-7B50-A70D-739788E3AC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496FCE64-DFE4-9F55-B8C9-C81E983D63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pt-PT"/>
          </a:p>
        </p:txBody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C5442EFF-3B54-8AFC-7479-8D1C8FCA98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829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9BFEB-C020-2362-63CD-3A5128B9A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015F6457-EAB6-11A4-B009-D4E35D4D99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DBD0C0BE-7578-8FAC-B8C8-297A7D04A0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pt-PT"/>
          </a:p>
        </p:txBody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173CDD66-AA4B-E4B6-9176-4A66FC9609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724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2FA32-281B-0759-680E-129D7CB62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F1A584A-70E6-007B-7476-A9958E7029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AD1BDAC-9899-9069-9B11-238FAC9727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pt-PT"/>
          </a:p>
        </p:txBody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FD713F3-DEF7-DE6A-31E6-30644334C0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493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FB0E2-88B2-60DB-ECE1-96DF555E6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0824729B-A90B-1441-5ACD-E4DC31B1C4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93026DD0-42A1-9F3F-1371-057C10D0A8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pt-PT"/>
          </a:p>
        </p:txBody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F2322FCB-B98C-5A1C-243A-FA6C893626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2746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CEFFA-5867-4E66-878E-386F368FA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12402AA-29F4-CBBD-F151-268C2C35B6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4CCD2BB0-F6B2-579F-5B24-FFE0FF170F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pt-PT"/>
          </a:p>
        </p:txBody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CCCE90A-3750-5D78-1B50-993608F628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229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7EA57-188E-A276-1BE0-57C798D55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D6A6E902-0A30-D2A2-A09C-B5F8BD8EFE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E980CEF-2EDB-166B-82A2-D063C81C24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pt-PT"/>
          </a:p>
        </p:txBody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3552017C-757A-CB14-AEF1-9CA2221EEC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74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FAB2E-689A-697B-75A7-5CA749FB2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ABB592F0-7F80-66F3-7364-59085E62A2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7A1099A7-5DBE-D78B-48FB-C2765761A2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pt-PT"/>
          </a:p>
        </p:txBody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43A21FD9-FB35-2814-C8A3-DE7965A29D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716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F7756-117F-6E6F-80F9-06B5B524C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6AE20C5D-A3A7-EA5D-6E9B-D6AF392336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1748180-BB3C-8AB1-9F3B-558C78A2CA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pt-PT"/>
          </a:p>
        </p:txBody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080BD2C-DDAC-0C8E-DCAF-00ACEF2AFF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4270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F8C43-54A2-FB1C-5B37-132068A3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E148AD7-D23F-1DC0-6FA0-E45DC8373C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0DC3D30-61EB-E2E6-155E-1050D903FF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pt-PT"/>
          </a:p>
        </p:txBody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29C9B99D-8C6A-35D6-0C9C-D241008E6A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4275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pt-PT"/>
          </a:p>
        </p:txBody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pt-PT" dirty="0">
                <a:latin typeface="Arial" pitchFamily="34" charset="0"/>
              </a:rPr>
              <a:t>Tiago (acabar referencias)</a:t>
            </a:r>
          </a:p>
        </p:txBody>
      </p:sp>
    </p:spTree>
    <p:extLst>
      <p:ext uri="{BB962C8B-B14F-4D97-AF65-F5344CB8AC3E}">
        <p14:creationId xmlns:p14="http://schemas.microsoft.com/office/powerpoint/2010/main" val="931110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Faça clique para editar o estilo do subtítulo do modelo global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3E61B-3AB3-490F-90D4-269C8A444AE7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basex.org/download/" TargetMode="External"/><Relationship Id="rId13" Type="http://schemas.openxmlformats.org/officeDocument/2006/relationships/image" Target="../media/image4.png"/><Relationship Id="rId3" Type="http://schemas.openxmlformats.org/officeDocument/2006/relationships/hyperlink" Target="https://lxml.de/" TargetMode="External"/><Relationship Id="rId7" Type="http://schemas.openxmlformats.org/officeDocument/2006/relationships/hyperlink" Target="https://docs.basex.org/" TargetMode="Externa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xml/xquery_intro.asp" TargetMode="External"/><Relationship Id="rId11" Type="http://schemas.openxmlformats.org/officeDocument/2006/relationships/image" Target="../media/image3.png"/><Relationship Id="rId5" Type="http://schemas.openxmlformats.org/officeDocument/2006/relationships/hyperlink" Target="https://www.w3schools.com/xml/xpath_intro.asp" TargetMode="External"/><Relationship Id="rId10" Type="http://schemas.openxmlformats.org/officeDocument/2006/relationships/hyperlink" Target="https://docs.python.org/3/library/xml.etree.elementtree.html" TargetMode="External"/><Relationship Id="rId4" Type="http://schemas.openxmlformats.org/officeDocument/2006/relationships/hyperlink" Target="https://www.w3schools.com/xml/xsl_intro.asp" TargetMode="External"/><Relationship Id="rId9" Type="http://schemas.openxmlformats.org/officeDocument/2006/relationships/hyperlink" Target="https://www.w3.org/XML/Schema" TargetMode="External"/><Relationship Id="rId1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"/>
          <a:stretch>
            <a:fillRect/>
          </a:stretch>
        </p:blipFill>
        <p:spPr>
          <a:xfrm>
            <a:off x="-133351" y="-152400"/>
            <a:ext cx="9982200" cy="70866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4549" y="2655801"/>
            <a:ext cx="5486400" cy="552329"/>
          </a:xfrm>
        </p:spPr>
        <p:txBody>
          <a:bodyPr>
            <a:normAutofit/>
          </a:bodyPr>
          <a:lstStyle/>
          <a:p>
            <a:r>
              <a:rPr lang="pt-PT" sz="25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INTEGRAÇÃO DE SISTEMAS</a:t>
            </a: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457200" y="6368520"/>
            <a:ext cx="8991600" cy="260880"/>
          </a:xfrm>
          <a:prstGeom prst="rect">
            <a:avLst/>
          </a:prstGeom>
        </p:spPr>
        <p:txBody>
          <a:bodyPr vert="horz" lIns="68580" tIns="34290" rIns="68580" bIns="3429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100" b="1" u="sng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Licenciatura em Engenharia Informática</a:t>
            </a:r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 | Escola Superior de Tecnologia e Gestão| Unidade Curricular: </a:t>
            </a:r>
            <a:r>
              <a:rPr lang="pt-PT" sz="1100" dirty="0">
                <a:highlight>
                  <a:srgbClr val="FFFF00"/>
                </a:highlight>
                <a:latin typeface="Arial" charset="0"/>
                <a:ea typeface="Arial" charset="0"/>
                <a:cs typeface="Arial" charset="0"/>
              </a:rPr>
              <a:t>INTEGRAÇÃO DE SISTEMAS </a:t>
            </a:r>
            <a:r>
              <a:rPr lang="pt-PT" sz="11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| Ano Letivo 2025/2026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130" y="392731"/>
            <a:ext cx="3872752" cy="962356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6D890E14-880C-4963-9EA0-EE9200F689F8}"/>
              </a:ext>
            </a:extLst>
          </p:cNvPr>
          <p:cNvSpPr txBox="1">
            <a:spLocks/>
          </p:cNvSpPr>
          <p:nvPr/>
        </p:nvSpPr>
        <p:spPr>
          <a:xfrm>
            <a:off x="892549" y="5635668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31396 – Gonçalo Teixeira ;</a:t>
            </a:r>
          </a:p>
          <a:p>
            <a:pPr algn="l"/>
            <a:endParaRPr lang="pt-PT" sz="11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PT" sz="11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CDB7617E-BD9F-40A8-BCFA-781CEC4CEE46}"/>
              </a:ext>
            </a:extLst>
          </p:cNvPr>
          <p:cNvSpPr txBox="1">
            <a:spLocks/>
          </p:cNvSpPr>
          <p:nvPr/>
        </p:nvSpPr>
        <p:spPr>
          <a:xfrm>
            <a:off x="4953495" y="5615784"/>
            <a:ext cx="3486150" cy="752736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Orientador(</a:t>
            </a:r>
            <a:r>
              <a:rPr lang="pt-PT" sz="105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es</a:t>
            </a:r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):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Professor Doutor Jorge Ribeiro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Jackson Barreto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02F2A86-A50E-0283-3B8A-EB9B059E210D}"/>
              </a:ext>
            </a:extLst>
          </p:cNvPr>
          <p:cNvSpPr txBox="1"/>
          <p:nvPr/>
        </p:nvSpPr>
        <p:spPr>
          <a:xfrm>
            <a:off x="457200" y="1273976"/>
            <a:ext cx="929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800" b="1" u="sng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Licenciatura em ENGENHARIA INFORMÁTICA</a:t>
            </a:r>
            <a:endParaRPr lang="pt-PT" dirty="0">
              <a:solidFill>
                <a:srgbClr val="FFFF00"/>
              </a:solidFill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331B8A6-B954-F04D-0378-7F3DD744E30A}"/>
              </a:ext>
            </a:extLst>
          </p:cNvPr>
          <p:cNvSpPr txBox="1">
            <a:spLocks/>
          </p:cNvSpPr>
          <p:nvPr/>
        </p:nvSpPr>
        <p:spPr>
          <a:xfrm>
            <a:off x="1987306" y="3556280"/>
            <a:ext cx="5486400" cy="5523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25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Exercício da aula TP - 04-11-2025</a:t>
            </a:r>
          </a:p>
        </p:txBody>
      </p:sp>
    </p:spTree>
    <p:extLst>
      <p:ext uri="{BB962C8B-B14F-4D97-AF65-F5344CB8AC3E}">
        <p14:creationId xmlns:p14="http://schemas.microsoft.com/office/powerpoint/2010/main" val="96230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</a:t>
            </a:fld>
            <a:r>
              <a:rPr lang="pt-PT" sz="100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 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Índice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381001" y="44450"/>
            <a:ext cx="61387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- EXERCÍCIO DA AULA TP </a:t>
            </a:r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381001" y="1212437"/>
            <a:ext cx="8229600" cy="493949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228600" indent="-228600" algn="just">
              <a:lnSpc>
                <a:spcPct val="20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pt-PT" sz="1400" dirty="0">
                <a:latin typeface="Arial" pitchFamily="34" charset="0"/>
                <a:cs typeface="Arial" pitchFamily="34" charset="0"/>
              </a:rPr>
              <a:t>Introdução</a:t>
            </a:r>
          </a:p>
          <a:p>
            <a:pPr marL="228600" indent="-228600" algn="just">
              <a:lnSpc>
                <a:spcPct val="20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pt-PT" sz="1400" dirty="0">
                <a:latin typeface="Arial" pitchFamily="34" charset="0"/>
                <a:cs typeface="Arial" pitchFamily="34" charset="0"/>
              </a:rPr>
              <a:t>Objetivos</a:t>
            </a:r>
          </a:p>
          <a:p>
            <a:pPr marL="228600" indent="-228600" algn="just">
              <a:lnSpc>
                <a:spcPct val="20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pt-PT" sz="1400" dirty="0" err="1">
                <a:latin typeface="Arial" pitchFamily="34" charset="0"/>
                <a:cs typeface="Arial" pitchFamily="34" charset="0"/>
              </a:rPr>
              <a:t>Dataset</a:t>
            </a:r>
            <a:endParaRPr lang="pt-PT" sz="1400" dirty="0">
              <a:latin typeface="Arial" pitchFamily="34" charset="0"/>
              <a:cs typeface="Arial" pitchFamily="34" charset="0"/>
            </a:endParaRPr>
          </a:p>
          <a:p>
            <a:pPr marL="228600" indent="-228600" algn="just">
              <a:lnSpc>
                <a:spcPct val="20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pt-PT" sz="1400" dirty="0">
                <a:latin typeface="Arial" pitchFamily="34" charset="0"/>
                <a:cs typeface="Arial" pitchFamily="34" charset="0"/>
              </a:rPr>
              <a:t>Conversão CSV → XML</a:t>
            </a:r>
          </a:p>
          <a:p>
            <a:pPr marL="228600" indent="-228600" algn="just">
              <a:lnSpc>
                <a:spcPct val="20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pt-PT" sz="1400" dirty="0">
                <a:latin typeface="Arial" pitchFamily="34" charset="0"/>
                <a:cs typeface="Arial" pitchFamily="34" charset="0"/>
              </a:rPr>
              <a:t>XML</a:t>
            </a:r>
          </a:p>
          <a:p>
            <a:pPr marL="228600" indent="-228600" algn="just">
              <a:lnSpc>
                <a:spcPct val="20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pt-PT" sz="1400" dirty="0">
                <a:latin typeface="Arial" pitchFamily="34" charset="0"/>
                <a:cs typeface="Arial" pitchFamily="34" charset="0"/>
              </a:rPr>
              <a:t>XSD (</a:t>
            </a:r>
            <a:r>
              <a:rPr lang="pt-PT" sz="1400" dirty="0" err="1">
                <a:latin typeface="Arial" pitchFamily="34" charset="0"/>
                <a:cs typeface="Arial" pitchFamily="34" charset="0"/>
              </a:rPr>
              <a:t>Schema</a:t>
            </a:r>
            <a:r>
              <a:rPr lang="pt-PT" sz="1400" dirty="0">
                <a:latin typeface="Arial" pitchFamily="34" charset="0"/>
                <a:cs typeface="Arial" pitchFamily="34" charset="0"/>
              </a:rPr>
              <a:t> de Validação)</a:t>
            </a:r>
          </a:p>
          <a:p>
            <a:pPr marL="228600" indent="-228600" algn="just">
              <a:lnSpc>
                <a:spcPct val="20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pt-PT" sz="1400" dirty="0">
                <a:latin typeface="Arial" pitchFamily="34" charset="0"/>
                <a:cs typeface="Arial" pitchFamily="34" charset="0"/>
              </a:rPr>
              <a:t>Validação em </a:t>
            </a:r>
            <a:r>
              <a:rPr lang="pt-PT" sz="1400" dirty="0" err="1">
                <a:latin typeface="Arial" pitchFamily="34" charset="0"/>
                <a:cs typeface="Arial" pitchFamily="34" charset="0"/>
              </a:rPr>
              <a:t>Python</a:t>
            </a:r>
            <a:endParaRPr lang="pt-PT" sz="1400" dirty="0">
              <a:latin typeface="Arial" pitchFamily="34" charset="0"/>
              <a:cs typeface="Arial" pitchFamily="34" charset="0"/>
            </a:endParaRPr>
          </a:p>
          <a:p>
            <a:pPr marL="228600" indent="-228600" algn="just">
              <a:lnSpc>
                <a:spcPct val="20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pt-PT" sz="1400" dirty="0">
                <a:latin typeface="Arial" pitchFamily="34" charset="0"/>
                <a:cs typeface="Arial" pitchFamily="34" charset="0"/>
              </a:rPr>
              <a:t>Opção 2 – Conceito e Vantagens</a:t>
            </a:r>
          </a:p>
          <a:p>
            <a:pPr marL="228600" indent="-228600" algn="just">
              <a:lnSpc>
                <a:spcPct val="20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pt-PT" sz="1400" dirty="0">
                <a:latin typeface="Arial" pitchFamily="34" charset="0"/>
                <a:cs typeface="Arial" pitchFamily="34" charset="0"/>
              </a:rPr>
              <a:t>Criação de </a:t>
            </a:r>
            <a:r>
              <a:rPr lang="pt-PT" sz="1400" dirty="0" err="1">
                <a:latin typeface="Arial" pitchFamily="34" charset="0"/>
                <a:cs typeface="Arial" pitchFamily="34" charset="0"/>
              </a:rPr>
              <a:t>SubXML</a:t>
            </a:r>
            <a:r>
              <a:rPr lang="pt-PT" sz="1400" dirty="0">
                <a:latin typeface="Arial" pitchFamily="34" charset="0"/>
                <a:cs typeface="Arial" pitchFamily="34" charset="0"/>
              </a:rPr>
              <a:t> com XSLT</a:t>
            </a:r>
          </a:p>
          <a:p>
            <a:pPr marL="228600" indent="-228600" algn="just">
              <a:lnSpc>
                <a:spcPct val="20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pt-PT" sz="1400" dirty="0">
                <a:latin typeface="Arial" pitchFamily="34" charset="0"/>
                <a:cs typeface="Arial" pitchFamily="34" charset="0"/>
              </a:rPr>
              <a:t>Estrutura dos </a:t>
            </a:r>
            <a:r>
              <a:rPr lang="pt-PT" sz="1400" dirty="0" err="1">
                <a:latin typeface="Arial" pitchFamily="34" charset="0"/>
                <a:cs typeface="Arial" pitchFamily="34" charset="0"/>
              </a:rPr>
              <a:t>SubXMLs</a:t>
            </a:r>
            <a:r>
              <a:rPr lang="pt-PT" sz="1400" dirty="0">
                <a:latin typeface="Arial" pitchFamily="34" charset="0"/>
                <a:cs typeface="Arial" pitchFamily="34" charset="0"/>
              </a:rPr>
              <a:t> Gerados</a:t>
            </a:r>
          </a:p>
          <a:p>
            <a:pPr marL="228600" indent="-228600" algn="just">
              <a:lnSpc>
                <a:spcPct val="20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pt-PT" sz="1400" dirty="0">
                <a:latin typeface="Arial" pitchFamily="34" charset="0"/>
                <a:cs typeface="Arial" pitchFamily="34" charset="0"/>
              </a:rPr>
              <a:t>Exploração só com </a:t>
            </a:r>
            <a:r>
              <a:rPr lang="pt-PT" sz="1400" dirty="0" err="1">
                <a:latin typeface="Arial" pitchFamily="34" charset="0"/>
                <a:cs typeface="Arial" pitchFamily="34" charset="0"/>
              </a:rPr>
              <a:t>XPath</a:t>
            </a:r>
            <a:endParaRPr lang="pt-PT" sz="1400" dirty="0">
              <a:latin typeface="Arial" pitchFamily="34" charset="0"/>
              <a:cs typeface="Arial" pitchFamily="34" charset="0"/>
            </a:endParaRPr>
          </a:p>
          <a:p>
            <a:pPr marL="228600" indent="-228600" algn="just">
              <a:lnSpc>
                <a:spcPct val="20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pt-PT" sz="1400" dirty="0">
                <a:latin typeface="Arial" pitchFamily="34" charset="0"/>
                <a:cs typeface="Arial" pitchFamily="34" charset="0"/>
              </a:rPr>
              <a:t>Exploração com </a:t>
            </a:r>
            <a:r>
              <a:rPr lang="pt-PT" sz="1400" dirty="0" err="1">
                <a:latin typeface="Arial" pitchFamily="34" charset="0"/>
                <a:cs typeface="Arial" pitchFamily="34" charset="0"/>
              </a:rPr>
              <a:t>XPath</a:t>
            </a:r>
            <a:r>
              <a:rPr lang="pt-PT" sz="1400" dirty="0">
                <a:latin typeface="Arial" pitchFamily="34" charset="0"/>
                <a:cs typeface="Arial" pitchFamily="34" charset="0"/>
              </a:rPr>
              <a:t> e </a:t>
            </a:r>
            <a:r>
              <a:rPr lang="pt-PT" sz="1400" dirty="0" err="1">
                <a:latin typeface="Arial" pitchFamily="34" charset="0"/>
                <a:cs typeface="Arial" pitchFamily="34" charset="0"/>
              </a:rPr>
              <a:t>XQuery</a:t>
            </a:r>
            <a:endParaRPr lang="pt-PT" sz="1400" dirty="0">
              <a:latin typeface="Arial" pitchFamily="34" charset="0"/>
              <a:cs typeface="Arial" pitchFamily="34" charset="0"/>
            </a:endParaRPr>
          </a:p>
          <a:p>
            <a:pPr marL="228600" indent="-228600" algn="just">
              <a:lnSpc>
                <a:spcPct val="20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pt-PT" sz="1400" dirty="0">
                <a:latin typeface="Arial" pitchFamily="34" charset="0"/>
                <a:cs typeface="Arial" pitchFamily="34" charset="0"/>
              </a:rPr>
              <a:t>Conclusões</a:t>
            </a:r>
          </a:p>
          <a:p>
            <a:pPr marL="228600" indent="-228600" algn="just">
              <a:lnSpc>
                <a:spcPct val="20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pt-PT" sz="1400" dirty="0">
                <a:latin typeface="Arial" pitchFamily="34" charset="0"/>
                <a:cs typeface="Arial" pitchFamily="34" charset="0"/>
              </a:rPr>
              <a:t>Referências</a:t>
            </a:r>
          </a:p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Licenciatura em ENGENHARIA INFORMÁTICA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Gonçalo Teixeira,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Exercício TP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3</a:t>
            </a:fld>
            <a:r>
              <a:rPr lang="pt-PT" sz="100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Introdução e Objetivos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306388" y="1192899"/>
            <a:ext cx="8532811" cy="50525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O presente trabalho, desenvolvido no âmbito da unidade curricular de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Integração de Sistemas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, tem como objetivo implementar um processo automatizado de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conversão, validação e exploração de dados alfanuméricos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PT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Através da utilização de tecnologias baseadas em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, foi criado um fluxo que converte um ficheiro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CSV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 num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XML validado por XSD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, permite gerar 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SubXMLs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 através de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XSLT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, e efetuar consultas com 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XPath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XQuery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PT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O projeto segue a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Opção 2 – Ideal/Eficiente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, que propõe uma abordagem modular e escalável, suportada por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scripts em 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, garantindo maior integração e reprodutibilidade entre as várias etapas do processo.</a:t>
            </a:r>
          </a:p>
          <a:p>
            <a:pPr algn="just">
              <a:lnSpc>
                <a:spcPct val="150000"/>
              </a:lnSpc>
            </a:pPr>
            <a:endParaRPr lang="pt-PT" sz="500" dirty="0"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pt-PT" sz="500" dirty="0"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pt-PT" sz="500" dirty="0"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kumimoji="0" lang="pt-PT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Objetivos</a:t>
            </a:r>
          </a:p>
          <a:p>
            <a:pPr marL="228600" lvl="0" indent="-228600" algn="just">
              <a:lnSpc>
                <a:spcPct val="200000"/>
              </a:lnSpc>
              <a:spcBef>
                <a:spcPct val="20000"/>
              </a:spcBef>
              <a:buFont typeface="+mj-lt"/>
              <a:buAutoNum type="arabicPeriod"/>
            </a:pPr>
            <a:r>
              <a:rPr kumimoji="0" lang="pt-PT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Converter dados alfanuméricos de um ficheiro CSV para XML.</a:t>
            </a:r>
          </a:p>
          <a:p>
            <a:pPr marL="228600" lvl="0" indent="-228600" algn="just">
              <a:lnSpc>
                <a:spcPct val="200000"/>
              </a:lnSpc>
              <a:spcBef>
                <a:spcPct val="20000"/>
              </a:spcBef>
              <a:buFont typeface="+mj-lt"/>
              <a:buAutoNum type="arabicPeriod"/>
            </a:pPr>
            <a:r>
              <a:rPr kumimoji="0" lang="pt-PT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Definir e aplicar um </a:t>
            </a:r>
            <a:r>
              <a:rPr kumimoji="0" lang="pt-PT" sz="12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Schema</a:t>
            </a:r>
            <a:r>
              <a:rPr kumimoji="0" lang="pt-PT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XSD de validação estrutural.</a:t>
            </a:r>
          </a:p>
          <a:p>
            <a:pPr marL="228600" lvl="0" indent="-228600" algn="just">
              <a:lnSpc>
                <a:spcPct val="200000"/>
              </a:lnSpc>
              <a:spcBef>
                <a:spcPct val="20000"/>
              </a:spcBef>
              <a:buFont typeface="+mj-lt"/>
              <a:buAutoNum type="arabicPeriod"/>
            </a:pPr>
            <a:r>
              <a:rPr kumimoji="0" lang="pt-PT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Gerar subdocumentos XML (</a:t>
            </a:r>
            <a:r>
              <a:rPr kumimoji="0" lang="pt-PT" sz="12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SubXML</a:t>
            </a:r>
            <a:r>
              <a:rPr kumimoji="0" lang="pt-PT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) filtrados por categoria usando XSLT.</a:t>
            </a:r>
          </a:p>
          <a:p>
            <a:pPr marL="228600" lvl="0" indent="-228600" algn="just">
              <a:lnSpc>
                <a:spcPct val="200000"/>
              </a:lnSpc>
              <a:spcBef>
                <a:spcPct val="20000"/>
              </a:spcBef>
              <a:buFont typeface="+mj-lt"/>
              <a:buAutoNum type="arabicPeriod"/>
            </a:pPr>
            <a:r>
              <a:rPr kumimoji="0" lang="pt-PT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Explorar e analisar dados através de consultas </a:t>
            </a:r>
            <a:r>
              <a:rPr kumimoji="0" lang="pt-PT" sz="12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XPath</a:t>
            </a:r>
            <a:r>
              <a:rPr kumimoji="0" lang="pt-PT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/</a:t>
            </a:r>
            <a:r>
              <a:rPr kumimoji="0" lang="pt-PT" sz="12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XQuery</a:t>
            </a:r>
            <a:r>
              <a:rPr kumimoji="0" lang="pt-PT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.</a:t>
            </a:r>
          </a:p>
          <a:p>
            <a:pPr marL="228600" lvl="0" indent="-228600" algn="just">
              <a:lnSpc>
                <a:spcPct val="200000"/>
              </a:lnSpc>
              <a:spcBef>
                <a:spcPct val="20000"/>
              </a:spcBef>
              <a:buFont typeface="+mj-lt"/>
              <a:buAutoNum type="arabicPeriod"/>
            </a:pPr>
            <a:r>
              <a:rPr kumimoji="0" lang="pt-PT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Demonstrar a integração de diferentes linguagens e tecnologias no mesmo processo.</a:t>
            </a:r>
          </a:p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Rectângulo 19">
            <a:extLst>
              <a:ext uri="{FF2B5EF4-FFF2-40B4-BE49-F238E27FC236}">
                <a16:creationId xmlns:a16="http://schemas.microsoft.com/office/drawing/2014/main" id="{FCBA6642-3183-8EA0-B3EB-B581B26BE305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Licenciatura em ENGENHARIA INFORMÁTICA</a:t>
            </a:r>
          </a:p>
        </p:txBody>
      </p:sp>
      <p:sp>
        <p:nvSpPr>
          <p:cNvPr id="3" name="Text Box 21">
            <a:extLst>
              <a:ext uri="{FF2B5EF4-FFF2-40B4-BE49-F238E27FC236}">
                <a16:creationId xmlns:a16="http://schemas.microsoft.com/office/drawing/2014/main" id="{1FD07EAA-FA48-82B3-AB92-D03AE756F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- EXERCÍCIO DA AULA TP 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2991F94B-A100-51C6-CB70-24459996A92D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Gonçalo Teixeira,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Exercício TP</a:t>
            </a:r>
          </a:p>
        </p:txBody>
      </p:sp>
    </p:spTree>
    <p:extLst>
      <p:ext uri="{BB962C8B-B14F-4D97-AF65-F5344CB8AC3E}">
        <p14:creationId xmlns:p14="http://schemas.microsoft.com/office/powerpoint/2010/main" val="817666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067A5-B935-B40E-8D07-434A6446F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F5509BB7-3C81-60D2-5127-B01EE8494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8B630660-F796-090D-19F4-46442C46B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4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34514F6E-D5AA-F9D6-B60C-2BCE2775F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Dados (CSV)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1F7FAF61-C8F7-683F-CCDF-6A34E9B467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71AD18B3-F4D6-3175-AA60-766E6E1F4961}"/>
              </a:ext>
            </a:extLst>
          </p:cNvPr>
          <p:cNvSpPr txBox="1">
            <a:spLocks/>
          </p:cNvSpPr>
          <p:nvPr/>
        </p:nvSpPr>
        <p:spPr>
          <a:xfrm>
            <a:off x="306388" y="1162038"/>
            <a:ext cx="8229600" cy="142540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PT" sz="1200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 utilizado provém do </a:t>
            </a:r>
            <a:r>
              <a:rPr lang="pt-PT" sz="1200" dirty="0" err="1">
                <a:latin typeface="Arial" panose="020B0604020202020204" pitchFamily="34" charset="0"/>
                <a:cs typeface="Arial" panose="020B0604020202020204" pitchFamily="34" charset="0"/>
              </a:rPr>
              <a:t>Kaggle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pt-PT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Retail</a:t>
            </a:r>
            <a:r>
              <a:rPr lang="pt-PT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Supply</a:t>
            </a:r>
            <a:r>
              <a:rPr lang="pt-PT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Chain</a:t>
            </a:r>
            <a:r>
              <a:rPr lang="pt-PT" sz="1200" i="1" dirty="0">
                <a:latin typeface="Arial" panose="020B0604020202020204" pitchFamily="34" charset="0"/>
                <a:cs typeface="Arial" panose="020B0604020202020204" pitchFamily="34" charset="0"/>
              </a:rPr>
              <a:t> Sales </a:t>
            </a:r>
            <a:r>
              <a:rPr lang="pt-PT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b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Contém dados de vendas no retalho com colunas representando:</a:t>
            </a:r>
          </a:p>
          <a:p>
            <a:endParaRPr lang="pt-PT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Identificadores de encomenda e cliente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Localização geográfica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Categoria e subcategoria de produto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Quantidades, descontos, vendas e lucros</a:t>
            </a:r>
          </a:p>
          <a:p>
            <a:pPr algn="just">
              <a:lnSpc>
                <a:spcPct val="150000"/>
              </a:lnSpc>
            </a:pPr>
            <a:endParaRPr lang="pt-PT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1BAE438-3E09-CB1C-7096-F10FAD0B4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256D682-6E9B-5160-3247-4450E9525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C640427-421F-3B74-E5D2-CB29E838863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B5D522C-37C5-753C-EE95-98FF74041A9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8" name="Rectângulo 19">
            <a:extLst>
              <a:ext uri="{FF2B5EF4-FFF2-40B4-BE49-F238E27FC236}">
                <a16:creationId xmlns:a16="http://schemas.microsoft.com/office/drawing/2014/main" id="{7FB5256C-9689-6354-FB8D-211E83BCF4E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Licenciatura em ENGENHARIA INFORMÁTICA</a:t>
            </a:r>
          </a:p>
        </p:txBody>
      </p:sp>
      <p:sp>
        <p:nvSpPr>
          <p:cNvPr id="10" name="Text Box 21">
            <a:extLst>
              <a:ext uri="{FF2B5EF4-FFF2-40B4-BE49-F238E27FC236}">
                <a16:creationId xmlns:a16="http://schemas.microsoft.com/office/drawing/2014/main" id="{66DAE35D-D69A-1E43-E453-BE31E9116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- EXERCÍCIO DA AULA TP </a:t>
            </a:r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E0A46B8D-0A31-8392-EC6D-9386173279D6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Gonçalo Teixeira,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Exercício TP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0D49D5C-FE0C-7E7D-23E0-5B6894AB89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7114" y="2645483"/>
            <a:ext cx="6602413" cy="3692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411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3A6B7-38C9-95D8-C54E-B079549E1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05B6034D-686B-30DB-3F99-358F2C7C1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0CA74728-038C-8011-959C-18D3F3033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5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6A1BB62E-5617-A42E-871A-227AFACBF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Converter CSV para XML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C63B41F5-922C-E99C-4C76-3FF4652E730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62ED235A-5737-4EF2-8989-B51215EA8239}"/>
              </a:ext>
            </a:extLst>
          </p:cNvPr>
          <p:cNvSpPr txBox="1">
            <a:spLocks/>
          </p:cNvSpPr>
          <p:nvPr/>
        </p:nvSpPr>
        <p:spPr>
          <a:xfrm>
            <a:off x="128587" y="1244450"/>
            <a:ext cx="4138613" cy="51292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/>
            <a:r>
              <a:rPr lang="pt-PT" sz="112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 converter o ficheiro CSV original para o formato XML, foi desenvolvido um script em </a:t>
            </a:r>
            <a:r>
              <a:rPr lang="pt-PT" sz="112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pt-PT" sz="112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utilizando a biblioteca </a:t>
            </a:r>
            <a:r>
              <a:rPr lang="pt-PT" sz="112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xml.etree.ElementTree</a:t>
            </a:r>
            <a:r>
              <a:rPr lang="pt-PT" sz="112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pt-PT" sz="112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PT" sz="112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processo de conversão segue os seguintes passos:</a:t>
            </a:r>
          </a:p>
          <a:p>
            <a:pPr algn="l"/>
            <a:endParaRPr lang="pt-PT" sz="112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PT" sz="112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Criação do elemento raiz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12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 criado um elemento </a:t>
            </a:r>
            <a:r>
              <a:rPr lang="pt-PT" sz="112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PT" sz="112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Root</a:t>
            </a:r>
            <a:r>
              <a:rPr lang="pt-PT" sz="112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 </a:t>
            </a:r>
            <a:r>
              <a:rPr lang="pt-PT" sz="112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 irá conter todos os registos.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PT" sz="112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PT" sz="112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Leitura do ficheiro CSV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12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ficheiro é lido com </a:t>
            </a:r>
            <a:r>
              <a:rPr lang="pt-PT" sz="112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csv.DictReader</a:t>
            </a:r>
            <a:r>
              <a:rPr lang="pt-PT" sz="112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que mapeia cada linha num dicionário com os nomes das colunas como chaves.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PT" sz="112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PT" sz="112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Transformação em elementos XML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12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 cada linha do CSV, é criado um elemento </a:t>
            </a:r>
            <a:r>
              <a:rPr lang="pt-PT" sz="112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PT" sz="112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r>
              <a:rPr lang="pt-PT" sz="112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12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Cada coluna é convertida num </a:t>
            </a:r>
            <a:r>
              <a:rPr lang="pt-PT" sz="112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sub-elemento</a:t>
            </a:r>
            <a:r>
              <a:rPr lang="pt-PT" sz="112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XML, com o nome ajustado para </a:t>
            </a:r>
            <a:r>
              <a:rPr lang="pt-PT" sz="112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CamelCase</a:t>
            </a:r>
            <a:r>
              <a:rPr lang="pt-PT" sz="112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(sem espaços ou caracteres especiais).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PT" sz="112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PT" sz="112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 Formatação e escrita do ficheiro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12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árvore XML é formatada com indentação adequada e escrita com a declaração XML padrão e codificação UTF-8.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PT" sz="112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PT" sz="112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Este processo garantiu a transformação automática e consistente dos dados tabulares para uma estrutura hierárquica XML, preparando-os para validação e processamento posterior.</a:t>
            </a:r>
          </a:p>
          <a:p>
            <a:pPr algn="just">
              <a:lnSpc>
                <a:spcPct val="150000"/>
              </a:lnSpc>
            </a:pPr>
            <a:endParaRPr lang="pt-PT" sz="12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10F845E-C6A7-81DB-EDE5-7813D104B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89CDE34-45EB-1DFC-3FDE-DFE1644D0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53071D1-0BB6-D7E2-D002-C7AB0EBECC0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41EED34-6043-17BD-8E27-72BD473C8E8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8" name="Rectângulo 19">
            <a:extLst>
              <a:ext uri="{FF2B5EF4-FFF2-40B4-BE49-F238E27FC236}">
                <a16:creationId xmlns:a16="http://schemas.microsoft.com/office/drawing/2014/main" id="{30A53F3A-94CE-D632-7574-E6A0493E1B5C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Licenciatura em ENGENHARIA INFORMÁTICA</a:t>
            </a: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FB658B0D-01AB-CA25-E90E-CCDCCEB60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- EXERCÍCIO DA AULA TP </a:t>
            </a:r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923B0D52-1E12-62DE-9C03-40780863E9D5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Gonçalo Teixeira,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Exercício TP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DFF3EA1-D225-A4A3-AD00-F6A5D05A72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8556" y="1252844"/>
            <a:ext cx="4604279" cy="46858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80345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FEAAD-8E11-AB9C-7F13-D646BD15E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8D2254A1-7916-2D59-22A2-481D49D4F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858B4722-DFF0-AF3F-7763-76DF90BF6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6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25493EC2-2F23-0AEB-D904-A46FF40F6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XML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4DEB8B63-9C77-F726-50F3-F8F42DB9779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F5192AA3-9F76-0711-DE8D-B8BED1018C18}"/>
              </a:ext>
            </a:extLst>
          </p:cNvPr>
          <p:cNvSpPr txBox="1">
            <a:spLocks/>
          </p:cNvSpPr>
          <p:nvPr/>
        </p:nvSpPr>
        <p:spPr>
          <a:xfrm>
            <a:off x="381001" y="1244450"/>
            <a:ext cx="3871119" cy="4973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pt-PT" sz="1200" dirty="0"/>
              <a:t>O ficheiro </a:t>
            </a:r>
            <a:r>
              <a:rPr lang="pt-PT" sz="1200" b="1" dirty="0"/>
              <a:t>CSV</a:t>
            </a:r>
            <a:r>
              <a:rPr lang="pt-PT" sz="1200" dirty="0"/>
              <a:t> foi convertido para </a:t>
            </a:r>
            <a:r>
              <a:rPr lang="pt-PT" sz="1200" b="1" dirty="0"/>
              <a:t>XML</a:t>
            </a:r>
            <a:r>
              <a:rPr lang="pt-PT" sz="1200" dirty="0"/>
              <a:t> através de um script em </a:t>
            </a:r>
            <a:r>
              <a:rPr lang="pt-PT" sz="1200" b="1" dirty="0" err="1"/>
              <a:t>Python</a:t>
            </a:r>
            <a:r>
              <a:rPr lang="pt-PT" sz="1200" dirty="0"/>
              <a:t>, garantindo uma estrutura hierárquica coerente e compatível com o </a:t>
            </a:r>
            <a:r>
              <a:rPr lang="pt-PT" sz="1200" b="1" dirty="0"/>
              <a:t>XSD</a:t>
            </a:r>
            <a:r>
              <a:rPr lang="pt-PT" sz="1200" dirty="0"/>
              <a:t> definido.</a:t>
            </a:r>
          </a:p>
          <a:p>
            <a:endParaRPr lang="pt-PT" sz="1200" dirty="0"/>
          </a:p>
          <a:p>
            <a:r>
              <a:rPr lang="pt-PT" sz="1200" dirty="0"/>
              <a:t>Cada linha do ficheiro de origem é representada por um elemento </a:t>
            </a:r>
            <a:r>
              <a:rPr lang="pt-PT" sz="1200" b="1" dirty="0"/>
              <a:t>&lt;</a:t>
            </a:r>
            <a:r>
              <a:rPr lang="pt-PT" sz="1200" b="1" dirty="0" err="1"/>
              <a:t>Row</a:t>
            </a:r>
            <a:r>
              <a:rPr lang="pt-PT" sz="1200" b="1" dirty="0"/>
              <a:t>&gt; </a:t>
            </a:r>
            <a:r>
              <a:rPr lang="pt-PT" sz="1200" dirty="0"/>
              <a:t>no XML, contendo subelementos como </a:t>
            </a:r>
            <a:r>
              <a:rPr lang="pt-PT" sz="1200" b="1" dirty="0"/>
              <a:t>&lt;</a:t>
            </a:r>
            <a:r>
              <a:rPr lang="pt-PT" sz="1200" b="1" dirty="0" err="1"/>
              <a:t>RowID</a:t>
            </a:r>
            <a:r>
              <a:rPr lang="pt-PT" sz="1200" b="1" dirty="0"/>
              <a:t>&gt;, &lt;</a:t>
            </a:r>
            <a:r>
              <a:rPr lang="pt-PT" sz="1200" b="1" dirty="0" err="1"/>
              <a:t>OrderID</a:t>
            </a:r>
            <a:r>
              <a:rPr lang="pt-PT" sz="1200" b="1" dirty="0"/>
              <a:t>&gt;, &lt;</a:t>
            </a:r>
            <a:r>
              <a:rPr lang="pt-PT" sz="1200" b="1" dirty="0" err="1"/>
              <a:t>CustomerName</a:t>
            </a:r>
            <a:r>
              <a:rPr lang="pt-PT" sz="1200" b="1" dirty="0"/>
              <a:t>&gt; ou &lt;</a:t>
            </a:r>
            <a:r>
              <a:rPr lang="pt-PT" sz="1200" b="1" dirty="0" err="1"/>
              <a:t>ProductName</a:t>
            </a:r>
            <a:r>
              <a:rPr lang="pt-PT" sz="1200" b="1" dirty="0"/>
              <a:t>&gt;, </a:t>
            </a:r>
            <a:r>
              <a:rPr lang="pt-PT" sz="1200" dirty="0"/>
              <a:t>que refletem diretamente as colunas do </a:t>
            </a:r>
            <a:r>
              <a:rPr lang="pt-PT" sz="1200" dirty="0" err="1"/>
              <a:t>dataset</a:t>
            </a:r>
            <a:r>
              <a:rPr lang="pt-PT" sz="1200" dirty="0"/>
              <a:t> original.</a:t>
            </a:r>
          </a:p>
          <a:p>
            <a:endParaRPr lang="pt-PT" sz="1200" dirty="0"/>
          </a:p>
          <a:p>
            <a:r>
              <a:rPr lang="pt-PT" sz="1200" dirty="0"/>
              <a:t>O documento segue uma indentação consistente e um formato bem definido, facilitando a leitura e o processamento automático.</a:t>
            </a:r>
          </a:p>
          <a:p>
            <a:endParaRPr lang="pt-PT" sz="1200" dirty="0"/>
          </a:p>
          <a:p>
            <a:r>
              <a:rPr lang="pt-PT" sz="1200" dirty="0"/>
              <a:t>A raiz </a:t>
            </a:r>
            <a:r>
              <a:rPr lang="pt-PT" sz="1200" b="1" dirty="0"/>
              <a:t>&lt;</a:t>
            </a:r>
            <a:r>
              <a:rPr lang="pt-PT" sz="1200" b="1" dirty="0" err="1"/>
              <a:t>Root</a:t>
            </a:r>
            <a:r>
              <a:rPr lang="pt-PT" sz="1200" b="1" dirty="0"/>
              <a:t>&gt; </a:t>
            </a:r>
            <a:r>
              <a:rPr lang="pt-PT" sz="1200" dirty="0"/>
              <a:t>agrupa todos os elementos </a:t>
            </a:r>
            <a:r>
              <a:rPr lang="pt-PT" sz="1200" b="1" dirty="0"/>
              <a:t>&lt;</a:t>
            </a:r>
            <a:r>
              <a:rPr lang="pt-PT" sz="1200" b="1" dirty="0" err="1"/>
              <a:t>Row</a:t>
            </a:r>
            <a:r>
              <a:rPr lang="pt-PT" sz="1200" b="1" dirty="0"/>
              <a:t>&gt;, </a:t>
            </a:r>
            <a:r>
              <a:rPr lang="pt-PT" sz="1200" dirty="0"/>
              <a:t>assegurando que o ficheiro se mantém </a:t>
            </a:r>
            <a:r>
              <a:rPr lang="pt-PT" sz="1200" b="1" dirty="0"/>
              <a:t>bem formado</a:t>
            </a:r>
            <a:r>
              <a:rPr lang="pt-PT" sz="1200" dirty="0"/>
              <a:t> e pronto para </a:t>
            </a:r>
            <a:r>
              <a:rPr lang="pt-PT" sz="1200" b="1" dirty="0"/>
              <a:t>validação</a:t>
            </a:r>
            <a:r>
              <a:rPr lang="pt-PT" sz="1200" dirty="0"/>
              <a:t> segundo o esquema XSD.</a:t>
            </a:r>
          </a:p>
          <a:p>
            <a:pPr algn="just">
              <a:lnSpc>
                <a:spcPct val="150000"/>
              </a:lnSpc>
            </a:pPr>
            <a:endParaRPr lang="pt-PT" sz="12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7811B32-5ED5-805D-4D30-1E1F200E6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189FCB3-69AF-A985-C5B1-157236F357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0BE4E69-479C-FDEB-30D7-63B3C4EDBF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B0903EC-F144-A020-5DAF-0C90934F65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8" name="Rectângulo 19">
            <a:extLst>
              <a:ext uri="{FF2B5EF4-FFF2-40B4-BE49-F238E27FC236}">
                <a16:creationId xmlns:a16="http://schemas.microsoft.com/office/drawing/2014/main" id="{A561B6DE-3232-F03C-F776-FF7FE9208976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Licenciatura em ENGENHARIA INFORMÁTICA</a:t>
            </a: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50E092E7-C82A-9B80-6835-ACDC3F12D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- EXERCÍCIO DA AULA TP </a:t>
            </a:r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316F7DA8-80EE-A1CE-A803-EAEFB74A36A9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Gonçalo Teixeira,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Exercício TP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B32DB3B-8801-B4A4-8B94-7EB1B1ACBB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3430" y="1268174"/>
            <a:ext cx="3903641" cy="49341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01735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AA27D-955B-4986-A2DB-D298DB858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C2F5E5FB-3258-090F-E964-B8370727F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9F02A5BB-6838-E5DC-8E86-9BA32A8CB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7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3AB7025D-7AE4-55B2-DDBB-977CB24BA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XSD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29A1106D-3231-AE63-3F7B-BDA14A20CB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7BFD6EE0-E500-BC16-2A5C-EF020BAD9179}"/>
              </a:ext>
            </a:extLst>
          </p:cNvPr>
          <p:cNvSpPr txBox="1">
            <a:spLocks/>
          </p:cNvSpPr>
          <p:nvPr/>
        </p:nvSpPr>
        <p:spPr>
          <a:xfrm>
            <a:off x="381001" y="1244450"/>
            <a:ext cx="3962399" cy="4973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O ficheiro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XSD (XML 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Schema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 define a estrutura, os tipos de dados e as regras de validação do documento XML, garantindo a sua conformidade e integridade.</a:t>
            </a:r>
          </a:p>
          <a:p>
            <a:endParaRPr lang="pt-PT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A raiz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Root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 contém um número variável de elementos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&gt;, 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correspondentes às linhas do ficheiro de origem. Cada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é composto por uma sequência ordenada de elementos, como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RowID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&gt;, &lt;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OrderID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&gt;, &lt;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CustomerName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ou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&lt;Sales&gt;.</a:t>
            </a:r>
          </a:p>
          <a:p>
            <a:endParaRPr lang="pt-PT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Os tipos de dados são explicitamente definidos: os identificadores e quantidades são do tipo 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xs:integer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, os valores monetários como 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xs:decimal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, e os restantes campos textuais como 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xs:string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PT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Este esquema assegura que o XML seja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bem formado e validado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, evitando erros de estrutura ou </a:t>
            </a:r>
            <a:r>
              <a:rPr lang="pt-PT" sz="1200" dirty="0" err="1">
                <a:latin typeface="Arial" panose="020B0604020202020204" pitchFamily="34" charset="0"/>
                <a:cs typeface="Arial" panose="020B0604020202020204" pitchFamily="34" charset="0"/>
              </a:rPr>
              <a:t>tipagem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 e permitindo a sua utilização segura em processos automáticos de integração.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EEAC83F-2254-E6D2-DE7B-EC65E6A0D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3A33008-FC4A-42BA-CCB2-47F764E83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EDF7237-307A-DC6D-45DF-98CB37380F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6D22457-D0A9-7858-F938-BAE15423511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8" name="Rectângulo 19">
            <a:extLst>
              <a:ext uri="{FF2B5EF4-FFF2-40B4-BE49-F238E27FC236}">
                <a16:creationId xmlns:a16="http://schemas.microsoft.com/office/drawing/2014/main" id="{E3D9F4B4-DE41-B48B-97F6-75AD7E0AEF0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Licenciatura em ENGENHARIA INFORMÁTICA</a:t>
            </a: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E71127B1-B486-1759-598A-B634BF741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- EXERCÍCIO DA AULA TP 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8F510F90-7B2D-B7E3-C117-860172657D28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Gonçalo Teixeira,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Exercício TP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1D2D5F1-4015-D386-6CBF-9E4EF6EDBE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6060" y="1112447"/>
            <a:ext cx="3465940" cy="52883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20597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10527-466A-1365-069B-E770536B7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B67C8D3-03AA-BB97-7833-C835A0E96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630FF966-6220-26B6-E61F-750030ACE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8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47BAC351-8280-C77A-B418-45C405230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Validação em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Python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56ACFE0-55AB-4ADD-9E65-DCBF2C6349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40B4F922-F73F-C757-9BF8-A77520E30F0B}"/>
              </a:ext>
            </a:extLst>
          </p:cNvPr>
          <p:cNvSpPr txBox="1">
            <a:spLocks/>
          </p:cNvSpPr>
          <p:nvPr/>
        </p:nvSpPr>
        <p:spPr>
          <a:xfrm>
            <a:off x="381001" y="1087684"/>
            <a:ext cx="3743400" cy="4973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A validação do documento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 foi realizada de forma programática através de um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script em 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, recorrendo à biblioteca 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lxml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, que permite interpretar e aplicar o 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Schema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 XSD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 de forma automática.</a:t>
            </a:r>
          </a:p>
          <a:p>
            <a:endParaRPr lang="pt-PT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O código lê o ficheiro XML e o respetivo XSD, cria um objeto de validação (</a:t>
            </a:r>
            <a:r>
              <a:rPr lang="pt-PT" sz="1200" dirty="0" err="1">
                <a:latin typeface="Arial" panose="020B0604020202020204" pitchFamily="34" charset="0"/>
                <a:cs typeface="Arial" panose="020B0604020202020204" pitchFamily="34" charset="0"/>
              </a:rPr>
              <a:t>XMLSchema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) e verifica se a estrutura e os tipos de dados definidos no esquema são respeitados.</a:t>
            </a:r>
          </a:p>
          <a:p>
            <a:endParaRPr lang="pt-PT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A execução do script devolveu a mensagem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“XML válido”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, confirmando que o ficheiro gerado cumpre integralmente as regras estruturais e de </a:t>
            </a:r>
            <a:r>
              <a:rPr lang="pt-PT" sz="1200" dirty="0" err="1">
                <a:latin typeface="Arial" panose="020B0604020202020204" pitchFamily="34" charset="0"/>
                <a:cs typeface="Arial" panose="020B0604020202020204" pitchFamily="34" charset="0"/>
              </a:rPr>
              <a:t>tipagem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 impostas pelo XSD.</a:t>
            </a:r>
          </a:p>
          <a:p>
            <a:endParaRPr lang="pt-PT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Este processo automatiza a verificação da integridade dos dados, permitindo validar rapidamente novos ficheiros e garantindo a consistência do fluxo de integração.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23FE72B-84DD-EA79-0D3F-705CF8A8B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55605FE-71D3-726E-4369-AD98EF65D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736F9E9-2540-22E4-E468-3537F22426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997AE6D-C2B5-C6E8-CD91-E76D7307D5E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8" name="Rectângulo 19">
            <a:extLst>
              <a:ext uri="{FF2B5EF4-FFF2-40B4-BE49-F238E27FC236}">
                <a16:creationId xmlns:a16="http://schemas.microsoft.com/office/drawing/2014/main" id="{9CBE044A-9939-9081-1925-6F9027C67A0F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Licenciatura em ENGENHARIA INFORMÁTICA</a:t>
            </a: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4C994634-56EA-BB1A-2DE3-D82426167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- EXERCÍCIO DA AULA TP </a:t>
            </a:r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8E68D37E-9773-7D39-0492-B7656EA51128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Gonçalo Teixeira,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Exercício TP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B7EA5FE8-9FC7-F8EA-BE0B-D7CD2E639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7264" y="1346602"/>
            <a:ext cx="4094115" cy="43944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555B9E2A-4FFF-8985-2F9A-6F8C3A07C6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104" y="5077238"/>
            <a:ext cx="3548164" cy="4853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2035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E1076-B7DB-35F9-8CE2-45AD90748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0840329B-8085-97A3-558B-1D0D6F8C3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09DC6219-5F69-D0F2-F6C4-BAF646740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9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57B524E-4867-64DF-C57C-6ADA72D1B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dirty="0"/>
              <a:t> </a:t>
            </a:r>
            <a:r>
              <a:rPr lang="pt-PT" sz="2000" b="1" dirty="0">
                <a:latin typeface="Arial" panose="020B0604020202020204" pitchFamily="34" charset="0"/>
                <a:cs typeface="Arial" panose="020B0604020202020204" pitchFamily="34" charset="0"/>
              </a:rPr>
              <a:t>Criação de </a:t>
            </a:r>
            <a:r>
              <a:rPr lang="pt-PT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SubXML</a:t>
            </a:r>
            <a:r>
              <a:rPr lang="pt-PT" sz="2000" b="1" dirty="0">
                <a:latin typeface="Arial" panose="020B0604020202020204" pitchFamily="34" charset="0"/>
                <a:cs typeface="Arial" panose="020B0604020202020204" pitchFamily="34" charset="0"/>
              </a:rPr>
              <a:t> com XSLT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E7B7658D-B181-BEBC-B6AD-7224065F27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BC5A57E1-9CEC-5F03-45D9-11D7C863C19B}"/>
              </a:ext>
            </a:extLst>
          </p:cNvPr>
          <p:cNvSpPr txBox="1">
            <a:spLocks/>
          </p:cNvSpPr>
          <p:nvPr/>
        </p:nvSpPr>
        <p:spPr>
          <a:xfrm>
            <a:off x="381000" y="1087683"/>
            <a:ext cx="4881558" cy="26187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pt-PT" sz="1150" dirty="0">
                <a:latin typeface="Arial" panose="020B0604020202020204" pitchFamily="34" charset="0"/>
                <a:cs typeface="Arial" panose="020B0604020202020204" pitchFamily="34" charset="0"/>
              </a:rPr>
              <a:t>Nesta fase, foi utilizado </a:t>
            </a:r>
            <a:r>
              <a:rPr lang="pt-PT" sz="1150" b="1" dirty="0">
                <a:latin typeface="Arial" panose="020B0604020202020204" pitchFamily="34" charset="0"/>
                <a:cs typeface="Arial" panose="020B0604020202020204" pitchFamily="34" charset="0"/>
              </a:rPr>
              <a:t>XSLT (</a:t>
            </a:r>
            <a:r>
              <a:rPr lang="pt-PT" sz="1150" b="1" dirty="0" err="1">
                <a:latin typeface="Arial" panose="020B0604020202020204" pitchFamily="34" charset="0"/>
                <a:cs typeface="Arial" panose="020B0604020202020204" pitchFamily="34" charset="0"/>
              </a:rPr>
              <a:t>Extensible</a:t>
            </a:r>
            <a:r>
              <a:rPr lang="pt-PT" sz="115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150" b="1" dirty="0" err="1">
                <a:latin typeface="Arial" panose="020B0604020202020204" pitchFamily="34" charset="0"/>
                <a:cs typeface="Arial" panose="020B0604020202020204" pitchFamily="34" charset="0"/>
              </a:rPr>
              <a:t>Stylesheet</a:t>
            </a:r>
            <a:r>
              <a:rPr lang="pt-PT" sz="115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150" b="1" dirty="0" err="1"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r>
              <a:rPr lang="pt-PT" sz="115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150" b="1" dirty="0" err="1">
                <a:latin typeface="Arial" panose="020B0604020202020204" pitchFamily="34" charset="0"/>
                <a:cs typeface="Arial" panose="020B0604020202020204" pitchFamily="34" charset="0"/>
              </a:rPr>
              <a:t>Transformations</a:t>
            </a:r>
            <a:r>
              <a:rPr lang="pt-PT" sz="115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pt-PT" sz="1150" dirty="0">
                <a:latin typeface="Arial" panose="020B0604020202020204" pitchFamily="34" charset="0"/>
                <a:cs typeface="Arial" panose="020B0604020202020204" pitchFamily="34" charset="0"/>
              </a:rPr>
              <a:t> para gerar ficheiros </a:t>
            </a:r>
            <a:r>
              <a:rPr lang="pt-PT" sz="1150" b="1" dirty="0" err="1">
                <a:latin typeface="Arial" panose="020B0604020202020204" pitchFamily="34" charset="0"/>
                <a:cs typeface="Arial" panose="020B0604020202020204" pitchFamily="34" charset="0"/>
              </a:rPr>
              <a:t>SubXML</a:t>
            </a:r>
            <a:r>
              <a:rPr lang="pt-PT" sz="1150" dirty="0">
                <a:latin typeface="Arial" panose="020B0604020202020204" pitchFamily="34" charset="0"/>
                <a:cs typeface="Arial" panose="020B0604020202020204" pitchFamily="34" charset="0"/>
              </a:rPr>
              <a:t> a partir do XML principal.</a:t>
            </a:r>
          </a:p>
          <a:p>
            <a:endParaRPr lang="pt-PT" sz="11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50" dirty="0">
                <a:latin typeface="Arial" panose="020B0604020202020204" pitchFamily="34" charset="0"/>
                <a:cs typeface="Arial" panose="020B0604020202020204" pitchFamily="34" charset="0"/>
              </a:rPr>
              <a:t>O ficheiro </a:t>
            </a:r>
            <a:r>
              <a:rPr lang="pt-PT" sz="1150" b="1" dirty="0" err="1">
                <a:latin typeface="Arial" panose="020B0604020202020204" pitchFamily="34" charset="0"/>
                <a:cs typeface="Arial" panose="020B0604020202020204" pitchFamily="34" charset="0"/>
              </a:rPr>
              <a:t>filtrar_categoria.xslt</a:t>
            </a:r>
            <a:r>
              <a:rPr lang="pt-PT" sz="1150" dirty="0">
                <a:latin typeface="Arial" panose="020B0604020202020204" pitchFamily="34" charset="0"/>
                <a:cs typeface="Arial" panose="020B0604020202020204" pitchFamily="34" charset="0"/>
              </a:rPr>
              <a:t> define uma transformação que filtra os elementos </a:t>
            </a:r>
            <a:r>
              <a:rPr lang="pt-PT" sz="1150" b="1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PT" sz="1150" b="1" dirty="0" err="1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r>
              <a:rPr lang="pt-PT" sz="1150" b="1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pt-PT" sz="1150" dirty="0">
                <a:latin typeface="Arial" panose="020B0604020202020204" pitchFamily="34" charset="0"/>
                <a:cs typeface="Arial" panose="020B0604020202020204" pitchFamily="34" charset="0"/>
              </a:rPr>
              <a:t>com base no valor do campo </a:t>
            </a:r>
            <a:r>
              <a:rPr lang="pt-PT" sz="1150" b="1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PT" sz="1150" b="1" dirty="0" err="1">
                <a:latin typeface="Arial" panose="020B0604020202020204" pitchFamily="34" charset="0"/>
                <a:cs typeface="Arial" panose="020B0604020202020204" pitchFamily="34" charset="0"/>
              </a:rPr>
              <a:t>Category</a:t>
            </a:r>
            <a:r>
              <a:rPr lang="pt-PT" sz="1150" b="1" dirty="0">
                <a:latin typeface="Arial" panose="020B0604020202020204" pitchFamily="34" charset="0"/>
                <a:cs typeface="Arial" panose="020B0604020202020204" pitchFamily="34" charset="0"/>
              </a:rPr>
              <a:t>&gt;, </a:t>
            </a:r>
            <a:r>
              <a:rPr lang="pt-PT" sz="1150" dirty="0">
                <a:latin typeface="Arial" panose="020B0604020202020204" pitchFamily="34" charset="0"/>
                <a:cs typeface="Arial" panose="020B0604020202020204" pitchFamily="34" charset="0"/>
              </a:rPr>
              <a:t>recebendo o parâmetro </a:t>
            </a:r>
            <a:r>
              <a:rPr lang="pt-PT" sz="1150" b="1" dirty="0">
                <a:latin typeface="Arial" panose="020B0604020202020204" pitchFamily="34" charset="0"/>
                <a:cs typeface="Arial" panose="020B0604020202020204" pitchFamily="34" charset="0"/>
              </a:rPr>
              <a:t>categoria</a:t>
            </a:r>
            <a:r>
              <a:rPr lang="pt-PT" sz="1150" dirty="0">
                <a:latin typeface="Arial" panose="020B0604020202020204" pitchFamily="34" charset="0"/>
                <a:cs typeface="Arial" panose="020B0604020202020204" pitchFamily="34" charset="0"/>
              </a:rPr>
              <a:t> através do script em </a:t>
            </a:r>
            <a:r>
              <a:rPr lang="pt-PT" sz="1150" b="1" dirty="0" err="1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pt-PT" sz="115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PT" sz="11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50" dirty="0">
                <a:latin typeface="Arial" panose="020B0604020202020204" pitchFamily="34" charset="0"/>
                <a:cs typeface="Arial" panose="020B0604020202020204" pitchFamily="34" charset="0"/>
              </a:rPr>
              <a:t>O script lê o XML e o XSLT, aplica a transformação com a categoria especificada (exemplo: </a:t>
            </a:r>
            <a:r>
              <a:rPr lang="pt-PT" sz="1150" i="1" dirty="0" err="1">
                <a:latin typeface="Arial" panose="020B0604020202020204" pitchFamily="34" charset="0"/>
                <a:cs typeface="Arial" panose="020B0604020202020204" pitchFamily="34" charset="0"/>
              </a:rPr>
              <a:t>Furniture</a:t>
            </a:r>
            <a:r>
              <a:rPr lang="pt-PT" sz="1150" dirty="0">
                <a:latin typeface="Arial" panose="020B0604020202020204" pitchFamily="34" charset="0"/>
                <a:cs typeface="Arial" panose="020B0604020202020204" pitchFamily="34" charset="0"/>
              </a:rPr>
              <a:t>), e grava automaticamente um novo ficheiro, como </a:t>
            </a:r>
            <a:r>
              <a:rPr lang="pt-PT" sz="1150" b="1" dirty="0" err="1">
                <a:latin typeface="Arial" panose="020B0604020202020204" pitchFamily="34" charset="0"/>
                <a:cs typeface="Arial" panose="020B0604020202020204" pitchFamily="34" charset="0"/>
              </a:rPr>
              <a:t>SubXML_Furniture.xml</a:t>
            </a:r>
            <a:r>
              <a:rPr lang="pt-PT" sz="115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PT" sz="11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50" dirty="0">
                <a:latin typeface="Arial" panose="020B0604020202020204" pitchFamily="34" charset="0"/>
                <a:cs typeface="Arial" panose="020B0604020202020204" pitchFamily="34" charset="0"/>
              </a:rPr>
              <a:t>Este processo permite segmentar os dados por categoria, criando subdocumentos XML independentes e bem formados, preparados para validação e exploração posterior através de </a:t>
            </a:r>
            <a:r>
              <a:rPr lang="pt-PT" sz="1150" b="1" dirty="0" err="1">
                <a:latin typeface="Arial" panose="020B0604020202020204" pitchFamily="34" charset="0"/>
                <a:cs typeface="Arial" panose="020B0604020202020204" pitchFamily="34" charset="0"/>
              </a:rPr>
              <a:t>XPath</a:t>
            </a:r>
            <a:r>
              <a:rPr lang="pt-PT" sz="115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PT" sz="1150" b="1" dirty="0" err="1">
                <a:latin typeface="Arial" panose="020B0604020202020204" pitchFamily="34" charset="0"/>
                <a:cs typeface="Arial" panose="020B0604020202020204" pitchFamily="34" charset="0"/>
              </a:rPr>
              <a:t>XQuery</a:t>
            </a:r>
            <a:r>
              <a:rPr lang="pt-PT" sz="115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PT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0D599CF-CB3B-E0FE-B2E1-29FB10456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A41A116-2015-9CC9-95C6-59020DFA3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8216D43-E7AA-09A1-8368-47466FBE63E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F15BBB0-C891-A218-FE92-04C50E60E82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8" name="Rectângulo 19">
            <a:extLst>
              <a:ext uri="{FF2B5EF4-FFF2-40B4-BE49-F238E27FC236}">
                <a16:creationId xmlns:a16="http://schemas.microsoft.com/office/drawing/2014/main" id="{1F9F6945-8945-0464-E4A1-88FD08A87F84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Licenciatura em ENGENHARIA INFORMÁTICA</a:t>
            </a: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31017921-2D71-9D5B-FCA7-59358119C2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- EXERCÍCIO DA AULA TP </a:t>
            </a:r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7486E19A-C575-C656-3E7F-1CF1E06F2EA2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Gonçalo Teixeira,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Exercício TP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5DD0E82-EECB-92C7-53C4-8751D37CF9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2558" y="1331695"/>
            <a:ext cx="3619500" cy="46609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5CFD613-779F-C841-8D3E-FAA1913760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0669" y="3795665"/>
            <a:ext cx="2899833" cy="260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590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29586-E142-FEF2-5E7A-9251E0B46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B99874FE-4851-90CC-F7CC-CA15DEF3F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6820FDEE-9FF7-CF70-0ED5-FAA2D7F3E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10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65B2B873-CCFA-35DC-0F6A-B640762A0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>
                <a:latin typeface="Arial" panose="020B0604020202020204" pitchFamily="34" charset="0"/>
                <a:cs typeface="Arial" panose="020B0604020202020204" pitchFamily="34" charset="0"/>
              </a:rPr>
              <a:t>Estrutura do </a:t>
            </a:r>
            <a:r>
              <a:rPr lang="pt-PT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SubXML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BE299BEE-C723-E2E3-39FE-883C1B44E36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2DED2812-34A6-373F-6CF5-AC8D528B8E93}"/>
              </a:ext>
            </a:extLst>
          </p:cNvPr>
          <p:cNvSpPr txBox="1">
            <a:spLocks/>
          </p:cNvSpPr>
          <p:nvPr/>
        </p:nvSpPr>
        <p:spPr>
          <a:xfrm>
            <a:off x="381001" y="1372331"/>
            <a:ext cx="4419600" cy="32557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O processo de transformação com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XSLT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 resultou na criação de um único 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SubXML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, contendo apenas os registos pertencentes à categoria 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Furniture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PT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Este ficheiro mantém a mesma estrutura hierárquica e os mesmos elementos do XML original, preservando a compatibilidade com o 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Schema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 XSD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PT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A raiz &lt;</a:t>
            </a:r>
            <a:r>
              <a:rPr lang="pt-PT" sz="1200" dirty="0" err="1">
                <a:latin typeface="Arial" panose="020B0604020202020204" pitchFamily="34" charset="0"/>
                <a:cs typeface="Arial" panose="020B0604020202020204" pitchFamily="34" charset="0"/>
              </a:rPr>
              <a:t>Root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&gt; agrupa todos os elementos &lt;</a:t>
            </a:r>
            <a:r>
              <a:rPr lang="pt-PT" sz="1200" dirty="0" err="1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&gt;, e cada &lt;</a:t>
            </a:r>
            <a:r>
              <a:rPr lang="pt-PT" sz="1200" dirty="0" err="1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&gt; representa um produto da categoria filtrada, com campos como &lt;</a:t>
            </a:r>
            <a:r>
              <a:rPr lang="pt-PT" sz="1200" dirty="0" err="1">
                <a:latin typeface="Arial" panose="020B0604020202020204" pitchFamily="34" charset="0"/>
                <a:cs typeface="Arial" panose="020B0604020202020204" pitchFamily="34" charset="0"/>
              </a:rPr>
              <a:t>RowID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&gt;, &lt;</a:t>
            </a:r>
            <a:r>
              <a:rPr lang="pt-PT" sz="1200" dirty="0" err="1">
                <a:latin typeface="Arial" panose="020B0604020202020204" pitchFamily="34" charset="0"/>
                <a:cs typeface="Arial" panose="020B0604020202020204" pitchFamily="34" charset="0"/>
              </a:rPr>
              <a:t>ProductName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&gt;, &lt;Sales&gt;, &lt;</a:t>
            </a:r>
            <a:r>
              <a:rPr lang="pt-PT" sz="1200" dirty="0" err="1">
                <a:latin typeface="Arial" panose="020B0604020202020204" pitchFamily="34" charset="0"/>
                <a:cs typeface="Arial" panose="020B0604020202020204" pitchFamily="34" charset="0"/>
              </a:rPr>
              <a:t>Quantity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&gt; e &lt;</a:t>
            </a:r>
            <a:r>
              <a:rPr lang="pt-PT" sz="1200" dirty="0" err="1">
                <a:latin typeface="Arial" panose="020B0604020202020204" pitchFamily="34" charset="0"/>
                <a:cs typeface="Arial" panose="020B0604020202020204" pitchFamily="34" charset="0"/>
              </a:rPr>
              <a:t>Profit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&gt;.</a:t>
            </a:r>
          </a:p>
          <a:p>
            <a:endParaRPr lang="pt-PT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O documento obtido é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bem formado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validável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 e adequado para exploração analítica através de consultas 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XPath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XQuery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, permitindo uma análise mais focada e eficiente dos dados dessa categoria específica.</a:t>
            </a:r>
          </a:p>
          <a:p>
            <a:endParaRPr lang="pt-PT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E4E4A63-248C-2660-7684-E78ECADE6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65096F7-A7A4-DBA3-F957-89B55A0D0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BC98BA0-7F35-010F-EEB1-601F6CF8428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658BB21-4F6A-093A-E365-89D85F78370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8" name="Rectângulo 19">
            <a:extLst>
              <a:ext uri="{FF2B5EF4-FFF2-40B4-BE49-F238E27FC236}">
                <a16:creationId xmlns:a16="http://schemas.microsoft.com/office/drawing/2014/main" id="{BABF39A6-FEC8-4002-8A07-425D3FBCD7BE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Licenciatura em ENGENHARIA INFORMÁTICA</a:t>
            </a: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60903E44-787A-4FEF-4163-3C1C6778C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- EXERCÍCIO DA AULA TP </a:t>
            </a:r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D924B503-93C4-13DB-385A-2F5ECFDD9151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Gonçalo Teixeira,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Exercício TP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2EE2836-3055-C458-E4C2-81E6B9CE49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5613" y="1212498"/>
            <a:ext cx="2977016" cy="50083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23161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9FD79-31ED-3AA1-DA8E-826A99DAA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67BA0F7-9D0D-A621-4A89-F4B36B26A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60902D10-6DD8-E91D-B00A-3212B5C6E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11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4ED38AC2-13BA-D3D5-7C38-DF1E51000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 </a:t>
            </a:r>
            <a:r>
              <a:rPr lang="pt-PT" sz="2000" b="1" dirty="0">
                <a:latin typeface="Arial" panose="020B0604020202020204" pitchFamily="34" charset="0"/>
                <a:cs typeface="Arial" panose="020B0604020202020204" pitchFamily="34" charset="0"/>
              </a:rPr>
              <a:t>Exploração de Dados só com </a:t>
            </a:r>
            <a:r>
              <a:rPr lang="pt-PT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Xpath</a:t>
            </a:r>
            <a:endParaRPr lang="pt-PT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80EF50DE-B712-242A-FD35-377A948B3C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995821D2-DB2D-9D96-A395-F36903E9E166}"/>
              </a:ext>
            </a:extLst>
          </p:cNvPr>
          <p:cNvSpPr txBox="1">
            <a:spLocks/>
          </p:cNvSpPr>
          <p:nvPr/>
        </p:nvSpPr>
        <p:spPr>
          <a:xfrm>
            <a:off x="381001" y="1140234"/>
            <a:ext cx="4419600" cy="3992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Após a criação do 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SubXML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, foram aplicadas expressões 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XPath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 em 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 para extrair e analisar informação relevante do ficheiro 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SubXML_Furniture.xml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PT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As consultas foram implementadas através da biblioteca 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lxml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, permitindo aceder diretamente aos elementos e atributos do XML de forma rápida e estruturada.</a:t>
            </a:r>
          </a:p>
          <a:p>
            <a:endParaRPr lang="pt-PT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Entre as principais operações realizadas destacam-se:</a:t>
            </a:r>
          </a:p>
          <a:p>
            <a:endParaRPr lang="pt-PT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A listagem dos produtos e respetivo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lucro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(//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ProductName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 e //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Profit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O cálculo do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total de vendas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 através da função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sum(//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/Sales);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A determinação da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quantidade média vendida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, calculada em </a:t>
            </a:r>
            <a:r>
              <a:rPr lang="pt-PT" sz="1200" dirty="0" err="1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 a partir dos valores de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P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Quantity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&gt;.</a:t>
            </a:r>
          </a:p>
          <a:p>
            <a:endParaRPr lang="pt-PT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A execução do script devolveu resultados consistentes, confirmando o correto funcionamento das consultas e permitindo obter </a:t>
            </a:r>
            <a:r>
              <a:rPr lang="pt-PT" sz="1200" b="1" dirty="0">
                <a:latin typeface="Arial" panose="020B0604020202020204" pitchFamily="34" charset="0"/>
                <a:cs typeface="Arial" panose="020B0604020202020204" pitchFamily="34" charset="0"/>
              </a:rPr>
              <a:t>indicadores financeiros agregados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 sobre a categoria </a:t>
            </a:r>
            <a:r>
              <a:rPr lang="pt-PT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Furniture</a:t>
            </a:r>
            <a:r>
              <a:rPr lang="pt-PT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PT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B24E803-2C64-3B14-E211-F59F42B3D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73A8AC3-8E2B-B114-1BDB-29063D26C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1DE8E91-7B8B-0DAD-7BBD-2ACAD2EC26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A456FD0-07F8-D715-AB4C-644A1817153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8" name="Rectângulo 19">
            <a:extLst>
              <a:ext uri="{FF2B5EF4-FFF2-40B4-BE49-F238E27FC236}">
                <a16:creationId xmlns:a16="http://schemas.microsoft.com/office/drawing/2014/main" id="{5F1004C5-DE39-A822-4F89-1D11706D4339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Licenciatura em ENGENHARIA INFORMÁTICA</a:t>
            </a: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6B696345-C553-B70C-46F9-8F634EA54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- EXERCÍCIO DA AULA TP </a:t>
            </a:r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F28BA571-0A02-266D-39BF-DE1E72FD8809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Gonçalo Teixeira,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Exercício TP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528FEC0-5EEF-E6A0-9C28-5FE1702534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1212173"/>
            <a:ext cx="3619500" cy="3937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CA50F22-F717-0C31-C42E-367E529729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143" y="5202060"/>
            <a:ext cx="3784600" cy="101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4028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E52EA-63D6-1851-FA31-5B875ACE1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0DD3C87F-3AD8-F436-2B81-2C3B1D54F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C511DB1C-7666-A8F3-7765-127D208EF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12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490E6513-A794-367D-B3DD-543CF45CC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 </a:t>
            </a:r>
            <a:r>
              <a:rPr lang="pt-PT" sz="2000" b="1" dirty="0">
                <a:latin typeface="Arial" panose="020B0604020202020204" pitchFamily="34" charset="0"/>
                <a:cs typeface="Arial" panose="020B0604020202020204" pitchFamily="34" charset="0"/>
              </a:rPr>
              <a:t>Exploração de Dados com </a:t>
            </a:r>
            <a:r>
              <a:rPr lang="pt-PT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XPath</a:t>
            </a:r>
            <a:r>
              <a:rPr lang="pt-PT" sz="20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pt-PT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XQuery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A5007835-C1D6-4780-C5F7-E76B7D0C68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DBBA429B-D6AF-72B9-6C3F-C1330877FC5D}"/>
              </a:ext>
            </a:extLst>
          </p:cNvPr>
          <p:cNvSpPr txBox="1">
            <a:spLocks/>
          </p:cNvSpPr>
          <p:nvPr/>
        </p:nvSpPr>
        <p:spPr>
          <a:xfrm>
            <a:off x="362657" y="1289981"/>
            <a:ext cx="8548710" cy="2019443"/>
          </a:xfrm>
          <a:prstGeom prst="rect">
            <a:avLst/>
          </a:prstGeom>
        </p:spPr>
        <p:txBody>
          <a:bodyPr vert="horz" lIns="91440" tIns="45720" rIns="91440" bIns="45720" numCol="2" rtlCol="0">
            <a:noAutofit/>
          </a:bodyPr>
          <a:lstStyle/>
          <a:p>
            <a:pPr algn="l"/>
            <a:r>
              <a:rPr lang="pt-PT" sz="1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Após a criação do </a:t>
            </a:r>
            <a:r>
              <a:rPr lang="pt-PT" sz="12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SubXML</a:t>
            </a:r>
            <a:r>
              <a:rPr lang="pt-PT" sz="1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foram aplicadas expressões </a:t>
            </a:r>
            <a:r>
              <a:rPr lang="pt-PT" sz="12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XPath</a:t>
            </a:r>
            <a:r>
              <a:rPr lang="pt-PT" sz="1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integradas em </a:t>
            </a:r>
            <a:r>
              <a:rPr lang="pt-PT" sz="12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XQuery</a:t>
            </a:r>
            <a:r>
              <a:rPr lang="pt-PT" sz="1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usando a ferramenta </a:t>
            </a:r>
            <a:r>
              <a:rPr lang="pt-PT" sz="12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BaseX</a:t>
            </a:r>
            <a:r>
              <a:rPr lang="pt-PT" sz="1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para extrair e analisar informação relevante do ficheiro </a:t>
            </a:r>
            <a:r>
              <a:rPr lang="pt-PT" sz="12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SubXML_Furniture.xml</a:t>
            </a:r>
            <a:r>
              <a:rPr lang="pt-PT" sz="1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pt-PT" sz="12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PT" sz="1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 consultas foram implementadas através da interface gráfica </a:t>
            </a:r>
            <a:r>
              <a:rPr lang="pt-PT" sz="12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BaseX</a:t>
            </a:r>
            <a:r>
              <a:rPr lang="pt-PT" sz="1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GUI, permitindo executar </a:t>
            </a:r>
            <a:r>
              <a:rPr lang="pt-PT" sz="12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queries</a:t>
            </a:r>
            <a:r>
              <a:rPr lang="pt-PT" sz="1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2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XQuery</a:t>
            </a:r>
            <a:r>
              <a:rPr lang="pt-PT" sz="1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que utilizam expressões </a:t>
            </a:r>
            <a:r>
              <a:rPr lang="pt-PT" sz="12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XPath</a:t>
            </a:r>
            <a:r>
              <a:rPr lang="pt-PT" sz="1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para aceder diretamente aos elementos e atributos do XML de forma poderosa e estruturada.</a:t>
            </a:r>
          </a:p>
          <a:p>
            <a:pPr algn="l"/>
            <a:endParaRPr lang="pt-PT" sz="12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PT" sz="1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Entre as principais operações realizadas destacam-se: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 listagem dos produtos e respetivo lucro 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(/</a:t>
            </a:r>
            <a:r>
              <a:rPr lang="pt-PT" sz="12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Root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PT" sz="12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PT" sz="12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ProductName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e /</a:t>
            </a:r>
            <a:r>
              <a:rPr lang="pt-PT" sz="12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Root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PT" sz="12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PT" sz="12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Profit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pt-PT" sz="1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usando um </a:t>
            </a:r>
            <a:r>
              <a:rPr lang="pt-PT" sz="12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r>
              <a:rPr lang="pt-PT" sz="1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2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XQuery</a:t>
            </a:r>
            <a:r>
              <a:rPr lang="pt-PT" sz="1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(for ... </a:t>
            </a:r>
            <a:r>
              <a:rPr lang="pt-PT" sz="12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cálculo do total de vendas através da função 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sum(/</a:t>
            </a:r>
            <a:r>
              <a:rPr lang="pt-PT" sz="12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Root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PT" sz="12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/Sales);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determinação da quantidade média vendida, calculada em </a:t>
            </a:r>
            <a:r>
              <a:rPr lang="pt-PT" sz="12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XQuery</a:t>
            </a:r>
            <a:r>
              <a:rPr lang="pt-PT" sz="1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 partir dos valores de 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PT" sz="12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Quantity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pt-PT" sz="12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pt-PT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70C9C51-3987-D421-3A1E-E2E04BD9A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FC0DC20-ECA4-1E79-1D86-779CACA81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70CE836-F639-E4B4-332A-6C63D87B4B5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EA9485C-0B0E-F3F1-6C5E-DA33423F488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8" name="Rectângulo 19">
            <a:extLst>
              <a:ext uri="{FF2B5EF4-FFF2-40B4-BE49-F238E27FC236}">
                <a16:creationId xmlns:a16="http://schemas.microsoft.com/office/drawing/2014/main" id="{428FD59B-D610-06F1-CBF3-4BAAC8685B49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Licenciatura em ENGENHARIA INFORMÁTICA</a:t>
            </a: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ADEB138B-6D26-86F2-ABAD-C1DA61818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- EXERCÍCIO DA AULA TP </a:t>
            </a:r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4499E2BB-F57B-E653-A50C-8ACF40E95DBE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Gonçalo Teixeira,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Exercício TP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A359666-3CEB-E533-C5C0-519E71871A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25" y="3925710"/>
            <a:ext cx="3944483" cy="12655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5D8B2928-38ED-0721-E672-B03D54B332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1787" y="3680688"/>
            <a:ext cx="4849813" cy="20736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9108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995BE-B5F8-AA2E-EABA-25E608441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CE8051E8-87D1-A8EB-7345-7FBF56C9B8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A79252F8-9DBD-CD1F-4CAA-1B043D6BF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13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36C8FF8A-0DFC-C253-16BF-B65D288E8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 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Conclusões 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2076F5E7-83FA-4AA5-527D-A28578D4C3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36A7530-5FF9-5A5F-4849-0E386FA2F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119DF95-EECD-46AE-B7D3-B3493705D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1696EB0-D6ED-0CA7-829E-2FF9721BE5E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36F1313-B6FC-02DB-7AFC-1D74E4287CA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7FF253E9-59F5-6824-59C9-E0F20F8B0698}"/>
              </a:ext>
            </a:extLst>
          </p:cNvPr>
          <p:cNvSpPr txBox="1"/>
          <p:nvPr/>
        </p:nvSpPr>
        <p:spPr>
          <a:xfrm>
            <a:off x="352233" y="1366791"/>
            <a:ext cx="8512175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PT" sz="1400" b="0" i="0" dirty="0">
                <a:effectLst/>
                <a:latin typeface="fkGroteskNeue"/>
              </a:rPr>
              <a:t>O trabalho permitiu implementar com sucesso um processo completo de integração e análise de dados, demonstrando a aplicação prática das tecnologias XML, XSD, XSLT, </a:t>
            </a:r>
            <a:r>
              <a:rPr lang="pt-PT" sz="1400" b="0" i="0" dirty="0" err="1">
                <a:effectLst/>
                <a:latin typeface="fkGroteskNeue"/>
              </a:rPr>
              <a:t>XPath</a:t>
            </a:r>
            <a:r>
              <a:rPr lang="pt-PT" sz="1400" b="0" i="0" dirty="0">
                <a:effectLst/>
                <a:latin typeface="fkGroteskNeue"/>
              </a:rPr>
              <a:t>, </a:t>
            </a:r>
            <a:r>
              <a:rPr lang="pt-PT" sz="1400" b="0" i="0" dirty="0" err="1">
                <a:effectLst/>
                <a:latin typeface="fkGroteskNeue"/>
              </a:rPr>
              <a:t>XQuery</a:t>
            </a:r>
            <a:r>
              <a:rPr lang="pt-PT" sz="1400" b="0" i="0" dirty="0">
                <a:effectLst/>
                <a:latin typeface="fkGroteskNeue"/>
              </a:rPr>
              <a:t> e </a:t>
            </a:r>
            <a:r>
              <a:rPr lang="pt-PT" sz="1400" b="0" i="0" dirty="0" err="1">
                <a:effectLst/>
                <a:latin typeface="fkGroteskNeue"/>
              </a:rPr>
              <a:t>Python</a:t>
            </a:r>
            <a:r>
              <a:rPr lang="pt-PT" sz="1400" b="0" i="0" dirty="0">
                <a:effectLst/>
                <a:latin typeface="fkGroteskNeue"/>
              </a:rPr>
              <a:t> num fluxo automatizado e coerente.</a:t>
            </a:r>
          </a:p>
          <a:p>
            <a:pPr algn="l"/>
            <a:endParaRPr lang="pt-PT" sz="1400" b="0" i="0" dirty="0">
              <a:effectLst/>
              <a:latin typeface="fkGroteskNeue"/>
            </a:endParaRPr>
          </a:p>
          <a:p>
            <a:pPr algn="l"/>
            <a:r>
              <a:rPr lang="pt-PT" sz="1400" b="0" i="0" dirty="0">
                <a:effectLst/>
                <a:latin typeface="fkGroteskNeue"/>
              </a:rPr>
              <a:t>A conversão do ficheiro CSV para XML garantiu uma estrutura hierárquica organizada e compatível com o </a:t>
            </a:r>
            <a:r>
              <a:rPr lang="pt-PT" sz="1400" b="0" i="0" dirty="0" err="1">
                <a:effectLst/>
                <a:latin typeface="fkGroteskNeue"/>
              </a:rPr>
              <a:t>Schema</a:t>
            </a:r>
            <a:r>
              <a:rPr lang="pt-PT" sz="1400" b="0" i="0" dirty="0">
                <a:effectLst/>
                <a:latin typeface="fkGroteskNeue"/>
              </a:rPr>
              <a:t> XSD, que assegurou a validação e integridade dos dados. A utilização de XSLT permitiu a geração de um </a:t>
            </a:r>
            <a:r>
              <a:rPr lang="pt-PT" sz="1400" b="0" i="0" dirty="0" err="1">
                <a:effectLst/>
                <a:latin typeface="fkGroteskNeue"/>
              </a:rPr>
              <a:t>SubXML</a:t>
            </a:r>
            <a:r>
              <a:rPr lang="pt-PT" sz="1400" b="0" i="0" dirty="0">
                <a:effectLst/>
                <a:latin typeface="fkGroteskNeue"/>
              </a:rPr>
              <a:t> filtrado por categoria, facilitando a segmentação da informação.</a:t>
            </a:r>
          </a:p>
          <a:p>
            <a:pPr algn="l"/>
            <a:endParaRPr lang="pt-PT" sz="1400" b="0" i="0" dirty="0">
              <a:effectLst/>
              <a:latin typeface="fkGroteskNeue"/>
            </a:endParaRPr>
          </a:p>
          <a:p>
            <a:pPr algn="l"/>
            <a:r>
              <a:rPr lang="pt-PT" sz="1400" b="0" i="0" dirty="0">
                <a:effectLst/>
                <a:latin typeface="fkGroteskNeue"/>
              </a:rPr>
              <a:t>As consultas </a:t>
            </a:r>
            <a:r>
              <a:rPr lang="pt-PT" sz="1400" b="0" i="0" dirty="0" err="1">
                <a:effectLst/>
                <a:latin typeface="fkGroteskNeue"/>
              </a:rPr>
              <a:t>XPath</a:t>
            </a:r>
            <a:r>
              <a:rPr lang="pt-PT" sz="1400" b="0" i="0" dirty="0">
                <a:effectLst/>
                <a:latin typeface="fkGroteskNeue"/>
              </a:rPr>
              <a:t> em </a:t>
            </a:r>
            <a:r>
              <a:rPr lang="pt-PT" sz="1400" b="0" i="0" dirty="0" err="1">
                <a:effectLst/>
                <a:latin typeface="fkGroteskNeue"/>
              </a:rPr>
              <a:t>Python</a:t>
            </a:r>
            <a:r>
              <a:rPr lang="pt-PT" sz="1400" b="0" i="0" dirty="0">
                <a:effectLst/>
                <a:latin typeface="fkGroteskNeue"/>
              </a:rPr>
              <a:t> possibilitaram a extração e agregação inicial de indicadores financeiros de forma rápida através da biblioteca </a:t>
            </a:r>
            <a:r>
              <a:rPr lang="pt-PT" sz="1400" b="0" i="0" dirty="0" err="1">
                <a:effectLst/>
                <a:latin typeface="fkGroteskNeue"/>
              </a:rPr>
              <a:t>lxml</a:t>
            </a:r>
            <a:r>
              <a:rPr lang="pt-PT" sz="1400" b="0" i="0" dirty="0">
                <a:effectLst/>
                <a:latin typeface="fkGroteskNeue"/>
              </a:rPr>
              <a:t>. Posteriormente, a integração de </a:t>
            </a:r>
            <a:r>
              <a:rPr lang="pt-PT" sz="1400" b="0" i="0" dirty="0" err="1">
                <a:effectLst/>
                <a:latin typeface="fkGroteskNeue"/>
              </a:rPr>
              <a:t>XQuery</a:t>
            </a:r>
            <a:r>
              <a:rPr lang="pt-PT" sz="1400" b="0" i="0" dirty="0">
                <a:effectLst/>
                <a:latin typeface="fkGroteskNeue"/>
              </a:rPr>
              <a:t> com </a:t>
            </a:r>
            <a:r>
              <a:rPr lang="pt-PT" sz="1400" b="0" i="0" dirty="0" err="1">
                <a:effectLst/>
                <a:latin typeface="fkGroteskNeue"/>
              </a:rPr>
              <a:t>XPath</a:t>
            </a:r>
            <a:r>
              <a:rPr lang="pt-PT" sz="1400" b="0" i="0" dirty="0">
                <a:effectLst/>
                <a:latin typeface="fkGroteskNeue"/>
              </a:rPr>
              <a:t> através do </a:t>
            </a:r>
            <a:r>
              <a:rPr lang="pt-PT" sz="1400" b="0" i="0" dirty="0" err="1">
                <a:effectLst/>
                <a:latin typeface="fkGroteskNeue"/>
              </a:rPr>
              <a:t>BaseX</a:t>
            </a:r>
            <a:r>
              <a:rPr lang="pt-PT" sz="1400" b="0" i="0" dirty="0">
                <a:effectLst/>
                <a:latin typeface="fkGroteskNeue"/>
              </a:rPr>
              <a:t> permitiu explorar consultas mais complexas e poderosas. A interface gráfica </a:t>
            </a:r>
            <a:r>
              <a:rPr lang="pt-PT" sz="1400" b="0" i="0" dirty="0" err="1">
                <a:effectLst/>
                <a:latin typeface="fkGroteskNeue"/>
              </a:rPr>
              <a:t>BaseX</a:t>
            </a:r>
            <a:r>
              <a:rPr lang="pt-PT" sz="1400" b="0" i="0" dirty="0">
                <a:effectLst/>
                <a:latin typeface="fkGroteskNeue"/>
              </a:rPr>
              <a:t> GUI proporcionou um ambiente interativo para desenvolvimento e validação das </a:t>
            </a:r>
            <a:r>
              <a:rPr lang="pt-PT" sz="1400" b="0" i="0" dirty="0" err="1">
                <a:effectLst/>
                <a:latin typeface="fkGroteskNeue"/>
              </a:rPr>
              <a:t>queries</a:t>
            </a:r>
            <a:r>
              <a:rPr lang="pt-PT" sz="1400" b="0" i="0" dirty="0">
                <a:effectLst/>
                <a:latin typeface="fkGroteskNeue"/>
              </a:rPr>
              <a:t>, demonstrando a eficácia desta combinação na obtenção de indicadores financeiros agregados de forma estruturada e consistente.</a:t>
            </a:r>
          </a:p>
          <a:p>
            <a:pPr algn="l"/>
            <a:endParaRPr lang="pt-PT" sz="1400" b="0" i="0" dirty="0">
              <a:effectLst/>
              <a:latin typeface="fkGroteskNeue"/>
            </a:endParaRPr>
          </a:p>
          <a:p>
            <a:pPr algn="l"/>
            <a:r>
              <a:rPr lang="pt-PT" sz="1400" b="0" i="0" dirty="0">
                <a:effectLst/>
                <a:latin typeface="fkGroteskNeue"/>
              </a:rPr>
              <a:t>Conclui-se que a </a:t>
            </a:r>
            <a:r>
              <a:rPr lang="pt-PT" sz="1400" b="1" i="0" dirty="0">
                <a:effectLst/>
                <a:latin typeface="fkGroteskNeue"/>
              </a:rPr>
              <a:t>Opção 2 (Ideal/Eficiente) </a:t>
            </a:r>
            <a:r>
              <a:rPr lang="pt-PT" sz="1400" b="0" i="0" dirty="0">
                <a:effectLst/>
                <a:latin typeface="fkGroteskNeue"/>
              </a:rPr>
              <a:t>representa uma abordagem robusta e escalável, integrando várias linguagens e ferramentas de forma harmoniosa, e demonstrando o potencial das tecnologias XML na interoperabilidade entre sistemas de informação e na análise eficaz de dados estruturados.</a:t>
            </a:r>
          </a:p>
        </p:txBody>
      </p:sp>
      <p:sp>
        <p:nvSpPr>
          <p:cNvPr id="2" name="Rectângulo 19">
            <a:extLst>
              <a:ext uri="{FF2B5EF4-FFF2-40B4-BE49-F238E27FC236}">
                <a16:creationId xmlns:a16="http://schemas.microsoft.com/office/drawing/2014/main" id="{6A434AF9-770C-8F15-2C70-EAA918648861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Licenciatura em ENGENHARIA INFORMÁTICA</a:t>
            </a:r>
          </a:p>
        </p:txBody>
      </p:sp>
      <p:sp>
        <p:nvSpPr>
          <p:cNvPr id="3" name="Text Box 21">
            <a:extLst>
              <a:ext uri="{FF2B5EF4-FFF2-40B4-BE49-F238E27FC236}">
                <a16:creationId xmlns:a16="http://schemas.microsoft.com/office/drawing/2014/main" id="{4876CA05-2773-56BC-B3B6-B95D4D459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- EXERCÍCIO DA AULA TP 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BE015D0D-3A0C-38F5-C42F-55C173ECCA81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Gonçalo Teixeira,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Exercício TP</a:t>
            </a:r>
          </a:p>
        </p:txBody>
      </p:sp>
    </p:spTree>
    <p:extLst>
      <p:ext uri="{BB962C8B-B14F-4D97-AF65-F5344CB8AC3E}">
        <p14:creationId xmlns:p14="http://schemas.microsoft.com/office/powerpoint/2010/main" val="2230247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Bibliografia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e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Referências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Web </a:t>
            </a: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152400" y="1066800"/>
            <a:ext cx="88392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r>
              <a:rPr lang="en-US" sz="1200" b="1" dirty="0">
                <a:solidFill>
                  <a:srgbClr val="FFC000"/>
                </a:solidFill>
                <a:cs typeface="Arial" panose="020B0604020202020204" pitchFamily="34" charset="0"/>
              </a:rPr>
              <a:t>■ </a:t>
            </a:r>
            <a:r>
              <a:rPr lang="pt-PT" sz="12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2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lxml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https://lxml.de/ </a:t>
            </a:r>
            <a:endParaRPr lang="pt-PT" sz="1200" b="1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r>
              <a:rPr lang="en-US" sz="12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■ 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W3Schools XSLT Tutorial: 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https://www.w3schools.com/xml/xsl_intro.asp </a:t>
            </a:r>
            <a:endParaRPr lang="pt-PT" sz="1200" b="1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r>
              <a:rPr lang="en-US" sz="12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■ 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W3Schools </a:t>
            </a:r>
            <a:r>
              <a:rPr lang="pt-PT" sz="12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XPath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Tutorial: 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https://www.w3schools.com/xml/xpath_intro.asp </a:t>
            </a:r>
            <a:endParaRPr lang="pt-PT" sz="1200" b="1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r>
              <a:rPr lang="en-US" sz="12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■ 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W3Schools </a:t>
            </a:r>
            <a:r>
              <a:rPr lang="pt-PT" sz="12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XQuery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Tutorial: 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https://www.w3schools.com/xml/xquery_intro.asp</a:t>
            </a:r>
            <a:endParaRPr lang="pt-PT" sz="1200" b="1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r>
              <a:rPr lang="en-US" sz="12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■ </a:t>
            </a:r>
            <a:r>
              <a:rPr lang="pt-PT" sz="12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BaseX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2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Documentation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https://docs.basex.org/</a:t>
            </a:r>
            <a:endParaRPr lang="pt-PT" sz="1200" b="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r>
              <a:rPr lang="en-US" sz="12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■</a:t>
            </a:r>
            <a:r>
              <a:rPr lang="pt-PT" sz="12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2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BaseX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Download: 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https://basex.org/download/</a:t>
            </a:r>
            <a:endParaRPr lang="pt-PT" sz="1200" b="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r>
              <a:rPr lang="en-US" sz="12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■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W3C XML </a:t>
            </a:r>
            <a:r>
              <a:rPr lang="pt-PT" sz="12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Schema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(XSD): </a:t>
            </a:r>
            <a:r>
              <a:rPr lang="pt-PT" sz="1200" b="1" i="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https://www.w3.org/XML/Schema</a:t>
            </a:r>
            <a:endParaRPr lang="pt-PT" sz="1200" b="1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r>
              <a:rPr lang="en-US" sz="12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■ </a:t>
            </a:r>
            <a:r>
              <a:rPr lang="pt-PT" sz="1200" b="1" dirty="0" err="1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Python</a:t>
            </a:r>
            <a:r>
              <a:rPr lang="pt-PT" sz="1200" b="1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</a:t>
            </a:r>
            <a:r>
              <a:rPr lang="pt-PT" sz="1200" b="1" dirty="0" err="1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xml.etree.ElementTree</a:t>
            </a:r>
            <a:r>
              <a:rPr lang="pt-PT" sz="1200" b="1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: </a:t>
            </a:r>
            <a:r>
              <a:rPr lang="pt-PT" sz="1200" b="1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  <a:hlinkClick r:id="rId10"/>
              </a:rPr>
              <a:t>https://docs.python.org/3/library/xml.etree.elementtree.html</a:t>
            </a:r>
            <a:endParaRPr lang="pt-PT" sz="1200" b="1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endParaRPr lang="pt-PT" sz="1600" b="1" dirty="0">
              <a:latin typeface="Arial" charset="0"/>
              <a:ea typeface="Arial" charset="0"/>
              <a:cs typeface="Arial" charset="0"/>
            </a:endParaRP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endParaRPr lang="pt-PT" sz="1600" b="1" dirty="0">
              <a:latin typeface="Arial" charset="0"/>
              <a:ea typeface="Arial" charset="0"/>
              <a:cs typeface="Arial" charset="0"/>
            </a:endParaRP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endParaRPr lang="pt-PT" sz="1600" b="1" dirty="0">
              <a:latin typeface="Arial" charset="0"/>
              <a:ea typeface="Arial" charset="0"/>
              <a:cs typeface="Arial" charset="0"/>
            </a:endParaRP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endParaRPr lang="pt-PT" sz="1600" b="1" dirty="0">
              <a:latin typeface="Arial" charset="0"/>
              <a:ea typeface="Arial" charset="0"/>
              <a:cs typeface="Arial" charset="0"/>
            </a:endParaRP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endParaRPr lang="en-US" sz="1600" dirty="0"/>
          </a:p>
          <a:p>
            <a:pPr marL="36576" algn="just">
              <a:lnSpc>
                <a:spcPct val="170000"/>
              </a:lnSpc>
              <a:spcBef>
                <a:spcPct val="20000"/>
              </a:spcBef>
              <a:defRPr/>
            </a:pPr>
            <a:endParaRPr kumimoji="0" lang="en-US" sz="20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DEBD917-885F-4E14-9AAA-FA7433880DF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BC0DA002-1D3A-41DC-B132-1A198053902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10">
            <a:extLst>
              <a:ext uri="{FF2B5EF4-FFF2-40B4-BE49-F238E27FC236}">
                <a16:creationId xmlns:a16="http://schemas.microsoft.com/office/drawing/2014/main" id="{1204D73C-759C-3E01-1E9B-19D68FC71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66F8E842-06BB-5B20-ECE1-C729A90ED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14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E16A8DF-702E-2F9F-FC6A-BBE9CEF5C36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678794F-9054-EA7B-B1E0-DF67F1547B8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9" name="Rectângulo 19">
            <a:extLst>
              <a:ext uri="{FF2B5EF4-FFF2-40B4-BE49-F238E27FC236}">
                <a16:creationId xmlns:a16="http://schemas.microsoft.com/office/drawing/2014/main" id="{5D9AD94E-E516-82EC-0404-012A181EA25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Licenciatura em ENGENHARIA INFORMÁTICA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2783EA0D-9206-A9B8-8D24-F9E41ABF01E1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Gonçalo Teixeira,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Exercício TP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949078D1-1E66-A3CC-2DDB-560CDF264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- EXERCÍCIO DA AULA TP </a:t>
            </a:r>
          </a:p>
        </p:txBody>
      </p:sp>
    </p:spTree>
    <p:extLst>
      <p:ext uri="{BB962C8B-B14F-4D97-AF65-F5344CB8AC3E}">
        <p14:creationId xmlns:p14="http://schemas.microsoft.com/office/powerpoint/2010/main" val="1590949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5867400"/>
            <a:ext cx="5143500" cy="489738"/>
          </a:xfrm>
        </p:spPr>
        <p:txBody>
          <a:bodyPr>
            <a:normAutofit/>
          </a:bodyPr>
          <a:lstStyle/>
          <a:p>
            <a:r>
              <a:rPr lang="pt-PT" sz="15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www.ipvc.pt</a:t>
            </a:r>
            <a:endParaRPr lang="pt-PT" sz="15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06" y="3409950"/>
            <a:ext cx="4048787" cy="100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599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5527</TotalTime>
  <Words>2215</Words>
  <Application>Microsoft Macintosh PowerPoint</Application>
  <PresentationFormat>Apresentação no Ecrã (4:3)</PresentationFormat>
  <Paragraphs>215</Paragraphs>
  <Slides>15</Slides>
  <Notes>13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15</vt:i4>
      </vt:variant>
    </vt:vector>
  </HeadingPairs>
  <TitlesOfParts>
    <vt:vector size="19" baseType="lpstr">
      <vt:lpstr>Arial</vt:lpstr>
      <vt:lpstr>Calibri</vt:lpstr>
      <vt:lpstr>fkGroteskNeue</vt:lpstr>
      <vt:lpstr>Tema do Office</vt:lpstr>
      <vt:lpstr>INTEGRAÇÃO DE SISTEMAS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Jorge Ribeiro</dc:creator>
  <cp:lastModifiedBy>Gonçalo Teixeira</cp:lastModifiedBy>
  <cp:revision>444</cp:revision>
  <cp:lastPrinted>2020-09-27T18:04:57Z</cp:lastPrinted>
  <dcterms:created xsi:type="dcterms:W3CDTF">2011-05-31T09:21:51Z</dcterms:created>
  <dcterms:modified xsi:type="dcterms:W3CDTF">2025-11-10T18:56:37Z</dcterms:modified>
</cp:coreProperties>
</file>